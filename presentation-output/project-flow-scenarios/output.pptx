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b2618234d64dce" /><Relationship Type="http://schemas.openxmlformats.org/officeDocument/2006/relationships/extended-properties" Target="/docProps/app.xml" Id="Ra63fc0437da3429c" /><Relationship Type="http://schemas.openxmlformats.org/officeDocument/2006/relationships/officeDocument" Target="/ppt/presentation.xml" Id="R0bafd590fdef4e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3c9e53495b4379"/>
  </p:sldMasterIdLst>
  <p:notesMasterIdLst>
    <p:notesMasterId xmlns:r="http://schemas.openxmlformats.org/officeDocument/2006/relationships" r:id="Rf02176a4adcd4a52"/>
  </p:notesMasterIdLst>
  <p:sldIdLst>
    <p:sldId xmlns:r="http://schemas.openxmlformats.org/officeDocument/2006/relationships" id="256" r:id="R1e9c891326664916"/>
    <p:sldId xmlns:r="http://schemas.openxmlformats.org/officeDocument/2006/relationships" id="257" r:id="R329917c9ad554b55"/>
    <p:sldId xmlns:r="http://schemas.openxmlformats.org/officeDocument/2006/relationships" id="258" r:id="R1171b66881d04b7c"/>
    <p:sldId xmlns:r="http://schemas.openxmlformats.org/officeDocument/2006/relationships" id="259" r:id="R8f0410c6b02b41c2"/>
    <p:sldId xmlns:r="http://schemas.openxmlformats.org/officeDocument/2006/relationships" id="260" r:id="Rd1e1d673b9b2436c"/>
    <p:sldId xmlns:r="http://schemas.openxmlformats.org/officeDocument/2006/relationships" id="261" r:id="R4c54c1fce62d4281"/>
    <p:sldId xmlns:r="http://schemas.openxmlformats.org/officeDocument/2006/relationships" id="262" r:id="R18a4a09637794efb"/>
    <p:sldId xmlns:r="http://schemas.openxmlformats.org/officeDocument/2006/relationships" id="263" r:id="Ra73472d22df9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b9c2a3eec44f59" /><Relationship Type="http://schemas.openxmlformats.org/officeDocument/2006/relationships/slideMaster" Target="/ppt/slideMasters/slideMaster1.xml" Id="Rec3c9e53495b4379" /><Relationship Type="http://schemas.openxmlformats.org/officeDocument/2006/relationships/notesMaster" Target="/ppt/notesMasters/notesMaster1.xml" Id="Rf02176a4adcd4a52" /><Relationship Type="http://schemas.openxmlformats.org/officeDocument/2006/relationships/presProps" Target="/ppt/presProps.xml" Id="R8497c5ddc1f4483f" /><Relationship Type="http://schemas.openxmlformats.org/officeDocument/2006/relationships/tableStyles" Target="/ppt/tableStyles.xml" Id="R5e67a50504624229" /><Relationship Type="http://schemas.openxmlformats.org/officeDocument/2006/relationships/slide" Target="/ppt/slides/slide1.xml" Id="R1e9c891326664916" /><Relationship Type="http://schemas.openxmlformats.org/officeDocument/2006/relationships/slide" Target="/ppt/slides/slide2.xml" Id="R329917c9ad554b55" /><Relationship Type="http://schemas.openxmlformats.org/officeDocument/2006/relationships/slide" Target="/ppt/slides/slide3.xml" Id="R1171b66881d04b7c" /><Relationship Type="http://schemas.openxmlformats.org/officeDocument/2006/relationships/slide" Target="/ppt/slides/slide4.xml" Id="R8f0410c6b02b41c2" /><Relationship Type="http://schemas.openxmlformats.org/officeDocument/2006/relationships/slide" Target="/ppt/slides/slide5.xml" Id="Rd1e1d673b9b2436c" /><Relationship Type="http://schemas.openxmlformats.org/officeDocument/2006/relationships/slide" Target="/ppt/slides/slide6.xml" Id="R4c54c1fce62d4281" /><Relationship Type="http://schemas.openxmlformats.org/officeDocument/2006/relationships/slide" Target="/ppt/slides/slide7.xml" Id="R18a4a09637794efb" /><Relationship Type="http://schemas.openxmlformats.org/officeDocument/2006/relationships/slide" Target="/ppt/slides/slide8.xml" Id="Ra73472d22df9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eca067e3cc40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Flow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Flow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61bf602eca49cd" /><Relationship Type="http://schemas.openxmlformats.org/officeDocument/2006/relationships/notesMaster" Target="/ppt/notesMasters/notesMaster1.xml" Id="Re7857cb3908446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3a22c7801648e4" /><Relationship Type="http://schemas.openxmlformats.org/officeDocument/2006/relationships/notesMaster" Target="/ppt/notesMasters/notesMaster1.xml" Id="R9f754be941f146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7b768493724e6b" /><Relationship Type="http://schemas.openxmlformats.org/officeDocument/2006/relationships/notesMaster" Target="/ppt/notesMasters/notesMaster1.xml" Id="R7c4fbed9d5eb4c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0af0333dc34f46" /><Relationship Type="http://schemas.openxmlformats.org/officeDocument/2006/relationships/notesMaster" Target="/ppt/notesMasters/notesMaster1.xml" Id="R73c46f9fa1c449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4d28e54ca34c39" /><Relationship Type="http://schemas.openxmlformats.org/officeDocument/2006/relationships/notesMaster" Target="/ppt/notesMasters/notesMaster1.xml" Id="R55404e11f8b449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b53b7fa0a84134" /><Relationship Type="http://schemas.openxmlformats.org/officeDocument/2006/relationships/notesMaster" Target="/ppt/notesMasters/notesMaster1.xml" Id="R47a9f972cade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41a0c6889149d7" /><Relationship Type="http://schemas.openxmlformats.org/officeDocument/2006/relationships/notesMaster" Target="/ppt/notesMasters/notesMaster1.xml" Id="Rbe6f9e5e9c0e4f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a590e2b2d8434a" /><Relationship Type="http://schemas.openxmlformats.org/officeDocument/2006/relationships/notesMaster" Target="/ppt/notesMasters/notesMaster1.xml" Id="Rf65bdef49ff947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Registration uses the /api/v1/auth endpoints. OTP delivery is delegated to Resend. Vehicle CRUD and primary selection are exposed by customer vehicle APIs.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SlotService evaluates maxBookingsPerTimeSlot rather than relying on a frontend-only limit. Active holds are included in capacity calculations.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create flow persists booking and payment data, consumes an eligible voucher, removes the slot hold, and publishes BOOKING_UPDATE.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SePay validates signed webhooks. VNPay supports checkout, return, IPN and query. Successful verification marks payment paid and booking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Operations endpoints create and transition WashSession entities. Confirmed booking eligibility is enforced before session creation.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uses STOMP/SockJS. Backend publishes BOOKING_UPDATE and WASH_SESSION_UPDATE events on /topic/bookings.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Completion triggers payment state, loyalty earn transaction and notification. Review creation grants a ten-point review bonus.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exposes booking management, vehicle detail, staff metrics, review and report APIs for role-specific dashboards.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b142a087c4d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016a7011864124" /><Relationship Type="http://schemas.openxmlformats.org/officeDocument/2006/relationships/slideLayout" Target="/ppt/slideLayouts/slideLayout1.xml" Id="Raf4e6ff34cd04b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4e6ff34cd04b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Flow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Flow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d389ca18c4cca" /><Relationship Type="http://schemas.openxmlformats.org/officeDocument/2006/relationships/notesSlide" Target="/ppt/notesSlides/notesSlide1.xml" Id="Rcd6f0023fa7343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27f1d59a74633" /><Relationship Type="http://schemas.openxmlformats.org/officeDocument/2006/relationships/notesSlide" Target="/ppt/notesSlides/notesSlide2.xml" Id="R7bd7793f004b4c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d8e0061014bfc" /><Relationship Type="http://schemas.openxmlformats.org/officeDocument/2006/relationships/notesSlide" Target="/ppt/notesSlides/notesSlide3.xml" Id="Rd8635da3fdde4a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c091da61d4c8c" /><Relationship Type="http://schemas.openxmlformats.org/officeDocument/2006/relationships/notesSlide" Target="/ppt/notesSlides/notesSlide4.xml" Id="Rc4481a0bee26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510485cfd4b39" /><Relationship Type="http://schemas.openxmlformats.org/officeDocument/2006/relationships/notesSlide" Target="/ppt/notesSlides/notesSlide5.xml" Id="R4568bd08b43047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c672960614db6" /><Relationship Type="http://schemas.openxmlformats.org/officeDocument/2006/relationships/notesSlide" Target="/ppt/notesSlides/notesSlide6.xml" Id="R7bd4f07dd5a049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54a348561481f" /><Relationship Type="http://schemas.openxmlformats.org/officeDocument/2006/relationships/notesSlide" Target="/ppt/notesSlides/notesSlide7.xml" Id="Rfcf33064dd7647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f7ba584a94138" /><Relationship Type="http://schemas.openxmlformats.org/officeDocument/2006/relationships/notesSlide" Target="/ppt/notesSlides/notesSlide8.xml" Id="Rf35dccbfb04e41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F01DA8F-2BED-4BDD-8B1A-161AB9F8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7C900-6AD2-4855-8AD8-17BAE42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C6A42-3569-4F69-AF01-D5342859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48F48-6761-42D0-9F37-7BE9D23D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B0857-B8DF-4BE0-A02B-51C1C811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"/>
            <a:ext cx="8477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1: Account Onboarding &amp; Vehicle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383FB-BF6B-4437-B719-27D6B66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000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A customer activates an account, receives JWT credentials, completes a profile, and prepares a primary vehicle for booking.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94401-9D4E-4412-A134-7448560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"/>
            <a:ext cx="857250" cy="2571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4C944-31A8-4DCE-98C3-12FF4FA1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00075"/>
            <a:ext cx="685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688A0-5AA7-4BF2-905E-E9800A93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E22C0-2141-4461-8D0E-025A626B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D3D7E-C80F-49B8-B90D-D68D62F3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11311-7B18-4CDA-81BE-8C7C7654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32678-F368-4992-A2AF-7E8CC177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47681-2894-44C0-B1C7-36B947C1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4CCA3-67B4-425F-9B68-80A7C1D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7CEF6-8853-45B9-8991-BCEEE608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8D980-4753-44AC-8FF7-31C26A11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Open Register or Login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47A51-34D8-45EF-B9A6-45BA6383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Choose email/password or Google authentication.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9278E-374A-4CF1-B3FB-68F3BEFC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F633C-3DBB-463F-8C61-9391EA2B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Customer entry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DF712-DB5B-4BF6-B396-90A51CA3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EFFE5-92A7-4D95-9C85-E24051E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F5F4C-BFB5-43FE-828A-135AB5EB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751F42-EE16-4B3B-A2B2-CFF0A591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6E702-DDEF-4E3B-B5BD-63AF3C09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A1AB9-2489-4360-BFA1-77120FC4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83060-8848-4FE0-8314-545D608F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CA23D-9D43-4823-A71F-813D0188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6FDC9F-B159-4C70-BDD6-380C31E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Submit Account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786408-670E-4F87-AF1C-8DC02C6D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Frontend validates required registration fields.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8D1133-AD64-4154-8D56-95ECCAF2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DF690D-E64D-4864-841D-69E0CEA1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POST /auth/register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0BEA7-12B8-44E7-8F20-7258B245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CEAC23-E9F9-44EE-9698-0C060A60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134F5F-80E4-4621-BD75-E685E89D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DAB3CF-ABFF-4609-B9B5-77358343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3B2CFD-B302-4867-8D53-5A0B7390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7D6A6A-0BE5-4518-A12E-15E13AF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OTP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470168-2B69-4A60-9341-5D95514A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B771E9-FE87-4278-988C-FC1B388F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33A404-C279-4ED4-A837-8C1D068F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Send Verification OTP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D72DF6-0090-4C52-AE0F-E1F815F1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Backend creates OTP and requests delivery through Resend.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EB1F8C-8173-4840-AD95-3D702D2F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7620">
            <a:solidFill>
              <a:srgbClr val="F45B1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11531A-C346-4CCF-BD55-B473BF22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POST /auth/otp/send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14BE7C-23B4-40CB-ACCC-9B29FA69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5F953B-987B-433F-8CDA-033685F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5EC218-DC44-4790-8C63-EE324234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2935C4-E24A-4F04-93F7-67FBDCB3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591CA7-00CE-466D-B03D-A9B17509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30D52A-A830-4B89-BD96-D372B09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613FE7-5E18-43CD-8C87-727C7120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A58F7F-EDEE-4377-A6B5-C2E025C7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0E8FC6-9537-4716-AA63-F8A3E64F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Verify and Activate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1699F5-FAB9-4E12-9EB4-A417E2BD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Correct OTP activates the customer account.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A17C71-B8D2-459D-A24C-4E058BFB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0E5AE3-9F76-4D75-A735-01E79585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POST /auth/otp/verify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CF7A62-92E5-474E-AEAF-37DEEE03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53640B-4B61-4E8F-B2B9-6FD52629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08E567-CF28-44A8-BA6C-C8E77EEE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8EAF54-F3D1-438F-96C2-B2837969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DA8188-3E04-4D0E-B1F1-386219F3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C210FF-3670-4527-956C-41C701BB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JWT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CCFA34-86C6-4D74-981B-FD00C928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439C98-99A2-4FAA-9BF7-6F68AA05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0D04D87-046A-49BB-8924-5ED394CF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Issue Access Tokens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AB9817C-128F-4425-A2D2-929738E1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Login or Google flow returns access and refresh tokens.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FA6C23-2F34-4218-8C71-66FAD532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D7EE18-AD4C-4BBF-957E-EC73D968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JWT secured APIs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2B5B3F-84AF-484B-9D6F-06B49C3B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964AAB-E5A4-491E-BD5A-1F3EA975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51EE78-8C61-4A70-811D-6FE3EC70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403CBA-D644-4511-8E77-4CD652B6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C62328-A104-4E7D-B56D-B283F2D5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7D639B-0914-49AA-BE8B-5FA0B37E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PF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153B48D-9645-42BF-B7E1-0891DB86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90A44B8-71F1-4D65-8EE4-BA3C7C4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73C632-6A36-425F-BE69-D04911E5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Complete Customer Profile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57B78A-C1D2-4B5F-8ED1-FF2EE3AF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Load and update personal information for bookings.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AB9D063-ADC3-400C-B5B9-7B67C1CF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BBF151D-5A1B-47D1-B406-8842302D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Profile API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20C352D-C8BC-48A9-82B8-3932ACEA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1BB4A0-FE65-42E4-8103-EB254D3B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EBEB38B-0EC5-4913-B800-77EF436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F1DABFB-0274-4137-9152-1FACB63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2B676C4-7A02-4F49-8333-F0E96F35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E021C7B-9DCD-4C1D-B796-63D7251B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7BC2857-9395-4D61-A029-B2B76C8E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A8498FC-54E4-4B23-B3D7-CA81066C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16E9C27-A459-4572-B523-E53CB7F2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Add a Vehicle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5D2E070-59D8-4EA8-A118-9AFF15D9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Create plate, brand/model and primary preference.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95495F0-C3D0-4AE7-98F7-71DEB97A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0697E6-3252-4E52-A1A7-3C04F91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/customers/vehicles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2395D7-E0AB-4C9C-94DB-7C9B9DD4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4FC08FB-8991-4737-83FF-6AE6ECB6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5164D62-A2D1-4F16-A270-47F16EF0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7FED452-7D5C-410E-BEDB-E45F43B6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A4ABD6B-DB67-4C48-B8D9-0A72085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C8F1E7F-4CCB-44FD-9EA1-91FC95FE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BBEAFDE-A70A-44D7-B662-2D518FA3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3921CB0-6472-4A48-9ED7-467EDB8F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BE533E9-D81A-47B2-B12E-FF2AA2EF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Set Primary Vehicle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FF9FF9C-BC81-403D-A843-A2133B41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Primary selection becomes the booking default.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E98C633-8C3B-462B-ACE1-BAF098CC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F81A130-CF83-4D2E-8D64-1D4E8B1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Duplicate plate errors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E34000F-BF5C-4C6C-980A-69058B5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4A8902-A3B6-4C09-806C-2237B09B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2FD6E90-652B-4031-ACB7-0605867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2. Submit Account Data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AD27603-6C46-4339-BBDB-BE422394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AACF431-9EBE-4641-84CE-561F6862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8DB86D9-4F82-4D00-A1CE-709A1E4F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3. Send Verification OTP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168B605-1931-4159-BF98-154E7062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4F186BF-7194-463D-B45B-F0432F6C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46FED7E-0E38-49A8-92DE-1EC3B473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4. Verify and Activate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8B99C37-7476-415D-97B6-AA983D9E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47950"/>
            <a:ext cx="95250" cy="1581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FB120B6-0C76-41F2-BBA0-3D0B98CC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8763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7BE3C8-00CB-485D-B49F-594B9C85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8382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5. Issue Access Tokens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5DE19C1-2356-4F4E-B2C7-23E4453D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3D6B98D-7EB7-458B-8D26-601EC556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9978162-208E-4105-8EB3-4571A90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6. Complete Customer Profile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E62F2DC-74DC-41C4-B897-9263574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05FB450-87D2-4D99-865B-66B7C6EE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08D0555-BB1C-4F94-8F2F-F2B50BBC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7. Add a Vehicle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88411D0-0D94-47D1-A89C-BAE25D6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6BEDA55-F601-4340-BB5D-5452EF2D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867DB60-9F67-4C58-AFA9-C9738C2A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8. Set Primary Vehicle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34CE955-8ED9-4101-8462-4A90D995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952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63D4BC9-03E2-4FBF-8F07-3D10942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0275"/>
            <a:ext cx="103632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Authentication protects customer routes with JWT; vehicle creation returns explicit validation errors such as duplicate license plates.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43730B9-4995-480F-940F-6708CB2D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2190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Solid arrow: next command/action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EDADBA1-FE4A-48DB-A701-04153D30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334125"/>
            <a:ext cx="2571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Dashed arrow: callback/realtime update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C66E2BA-7F23-4215-A457-E04BECC1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0956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Repository-aligned: origin/dev b5ad575</a:t>
            </a:r>
          </a:p>
        </p:txBody>
      </p:sp>
    </p:spTree>
    <p:extLst>
      <p:ext uri="{BB962C8B-B14F-4D97-AF65-F5344CB8AC3E}">
        <p14:creationId xmlns:p14="http://schemas.microsoft.com/office/powerpoint/2010/main" val="704287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170B07A-AC1F-49B1-96B8-B61A6E43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A2B07-4CC7-441F-8490-86083A02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9D6FF-41A9-4782-8376-18116724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73ED1-0445-451C-82CF-428CA22E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0C263-E05A-453D-B6C9-4E32A92B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"/>
            <a:ext cx="8477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2: Service-to-Slot Booking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6134B-08AD-47B9-BD8E-7011D606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000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The customer compares available offerings, selects a vehicle and date, then reserves capacity before entering booking details.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5C773-A0D4-4491-A64E-F27768F8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"/>
            <a:ext cx="857250" cy="2571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3D8DC-2A90-4C43-BB62-2409C7A7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00075"/>
            <a:ext cx="685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8DC88-A464-4A80-893C-9DFBE599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3EEB1-A916-4BA7-A59A-246EC4E1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6CCA1-0E8C-4B8F-82EA-10423CD6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42271-DDA5-44B0-9CB9-879FF6FA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E2A95-E96E-42E3-8E2F-027A1CE2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89862-C98F-4731-AEF2-1901D39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FB3B8-54D8-4A62-87E2-556BB8BA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6ED02-A7D8-4C41-8489-5767350C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60D71-0231-47CB-AF52-F026953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Browse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87582-8319-474E-9816-0E0B6F1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Load active car-care services and their details.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C0AC4-252B-4D64-AAF2-F3CCE8FD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1D879-C226-43EE-BE95-E1FB986E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GET /services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8A3C1-2750-406B-B1D7-8EB0EF1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75368-2858-48A6-9FEB-6DE49476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536451-2BB4-4EE8-8638-426AD902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C6351-436E-470A-9A29-BE2FADD5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F78074-502B-4438-A45C-5C6D25D2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D5EDA-50ED-446C-99FE-6828BFBA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CD79F-0A85-406D-935F-108C9B7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103CC5-8817-440C-B29C-3C2E1A0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E1A793-A817-4C28-AF82-B228F27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Compare Packages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0944C5-43B3-431A-B044-CDCECBF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Review packages and included service items.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F1F03E-E87D-4FA7-8AA6-F0C9983F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7EBB82-8845-4D29-9757-9CFCA234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GET /packages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28601-947F-4480-920E-D412DAB9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D7A4D5-59DD-4B9D-8ECB-9AD30932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6B816A-7CD4-461E-A991-01F915E1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F3A053-A3FB-4480-BF74-E7025817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317A0D-77EF-43CE-A642-6BDA842B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1DB583-825F-4C7C-953C-5CBDEF2F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F901AA-21C0-497E-9424-9B87A818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B160D7-5510-4462-8C91-EDDDB84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6EC71D-5D30-494F-97C7-C9686C92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Check Available Combos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2C4AFF-201C-4558-9D8D-CFCFF11A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Display eligible combo offerings and benefits.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2AEEF9-603F-4ACA-9222-A6A6C08E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0C97CD-611E-4410-B7F9-BD8845BD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GET /combos/available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0911C0-7D05-425F-B89E-0EC5FDD0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DB2AD4-0A02-470A-B40A-5B35B4E2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B31539-D311-4B51-8267-73B615D5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F7A9A5-F786-4DD7-A515-6DC3BAFF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D5DA3A-1CF4-4543-BB93-0E619CDB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03C4EB-920F-4133-8611-987E654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A26BA-BE51-4124-B662-D8EFD4E6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8C84EF-097B-4AB9-9756-682DE5FE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6A156D-BA41-495A-876E-83CC7938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Select a Vehicle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9D52E1-FB89-422A-8904-75A2E491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Choose an owned vehicle, usually the primary vehicle.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78FC75-FE61-4DBA-B1DA-90AC73E2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996E80-EE73-43EA-A441-51BC353E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Vehicle ID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0D0FD1-0F67-4BA9-890F-3D3BC559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2893EA-B8A6-41D5-A42B-E446E005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FBC59D4-1932-4465-972C-19B363D7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BE3D3C-1849-4EB2-96F2-43F5BA8F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20273F-A8E3-4078-B573-6DD57AD4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D2DF82-E4A2-4CF1-B58C-50C27F0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DAY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727375-828F-411D-B5BF-E3EDFCFC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D82C51-D676-42CB-B8A4-DCF2A25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99AEF4-DC01-4DC1-9979-8621271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Choose Booking Date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D9EA73-7011-416A-BFC1-8E322861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Customer selects the intended wash date.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E0B8F2-D6BD-44EE-A925-B5C4A1BD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62A380-556C-4140-AA4B-CD68BEE2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Local date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1C21E42-4F56-4343-B8AB-61A2F820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9C6F4E-DCA6-46D2-BBD7-800CCB7D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C7FF57-B1CF-4492-8371-A049ADAC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35A19AC-27A8-4274-871F-B7196C0B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730072-BAD6-4024-8F20-7616B3A0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176756-C663-4E8B-AC76-B0315CE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8980D4-65B0-4BEA-9DB4-540B16A3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B0A74EF-C8C9-4786-8B85-1B5C7F45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99CBC9-EFD2-4CA6-80B6-9849F8FE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Load Slot Availability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2BC1DD-8D9C-4DB7-8933-08E43C23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Backend calculates capacity, holds and remaining slots.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63CF613-D32C-437F-980C-488AD25B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D462C8-8EFD-4D37-96D6-37BBCFDD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GET /slots/availability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3FFE71-CB87-48BC-B1C7-CD580313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BF6CFF-48FA-4E2E-8E97-267EB1F0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42C5CFF-3E68-4DB3-A0AF-40822DB3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9A1BED-D9E9-4A91-AB3B-2FF92510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ECC8D5-637E-4037-BAD7-49304E7E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A9F7904-703D-49C5-B2DA-EB5B20EC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72E96E1-7994-4B16-ADDF-DF3DAC21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FD9983-090E-4F87-877E-3C0A8A0E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2DD872-557B-4BDD-B5AA-9605A880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Hold the Selected Slot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27EB81C-D844-4A2D-BB1C-CE48C7C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Create a temporary reservation before booking submit.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F2D592B-F069-4FDB-9620-92A37D48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4D6F081-779D-466D-84A5-C202A7C4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POST /slots/hold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D60914-5A66-4253-8E8F-F04909A6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757182-02C3-46CD-8FEF-02E09D20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B3F1C30-0688-4BCF-A6F7-0035FDD8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66C1661-CC22-4C91-9778-6ED705AE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E5B67C9-AA76-47A4-BA38-B27DBEC2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185EF98-06CC-41A1-AD27-75C3E18D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SUM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9C57C1-571C-47C0-B5F6-54A6B07B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2CD33B7-D7EA-4284-979A-CCE459D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FE3E5E4-C27E-431B-9BD7-DD22FD63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Review Booking Setup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9632786-2F22-4F4E-8901-9A233367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Show service, vehicle, date, slot and estimated price.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D2856B2-BCC3-48EB-91A3-F8EEA97B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C4C9BF3-6E78-4EC8-9275-83C9A5BF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Continue checkout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3595D5-BA59-4D2C-9D59-C015084F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B32FF5-BCB7-455E-BE28-41DE9238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8A8BE24-BEF9-406A-8A12-EDB07C4C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2. Compare Packages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6AF3C8-A90B-48C3-A049-FF6664BE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836E53C-A766-466B-835E-EF38A03E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96B97F3-D05B-44D7-B2F1-1385DC2D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3. Check Available Combos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5E5F692-F213-4A21-89A0-EB22CC39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36AC180-6F21-49C4-B121-6685A650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5C50546-AB8E-4910-81B7-A668B189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4. Select a Vehicle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D6C4265-EDE5-4F79-B19E-6F6DC4AD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47950"/>
            <a:ext cx="95250" cy="1581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0B113A-6848-42E3-B08D-120ACFDC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8763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A8B6C9B-C9D9-49F5-8DE8-D0064AFF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8382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5. Choose Booking Date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A02CA5D-483A-466C-9FE3-D66584DE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3171552-71C7-4C37-AEB8-541B35F0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940A789-56A1-4956-9495-58D494E9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6. Load Slot Availability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44D64A4-6699-45EC-B117-F3BF4DBB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B9CAD00-6FDA-4079-BD45-9A86D1BF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8CB1151-4DCD-460D-9E7A-45AE8984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7. Hold the Selected Slot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CAAEB32-6C41-415E-B263-A2A5B4C3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911A9FE-01A4-4B6A-9E89-4B390418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9209584-B24D-431C-B616-44764FCC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8. Review Booking Setup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B99D2E1-8573-4A1F-B626-B7F173AB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952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08BFD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B500521-B146-42D3-B49F-7DA5201D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0275"/>
            <a:ext cx="103632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Available capacity equals configured slot capacity minus existing non-cancelled bookings and active holds; a hold expires after 15 minutes.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35A0467-A816-4D7F-8DD0-907A0C37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2190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Solid arrow: next command/action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E3EFB2C-ACF9-4CC0-A628-F7CE2B7E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334125"/>
            <a:ext cx="2571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Dashed arrow: callback/realtime update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252DE48-58A8-4DA3-9756-73AE33B9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0956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Repository-aligned: origin/dev b5ad575</a:t>
            </a:r>
          </a:p>
        </p:txBody>
      </p:sp>
    </p:spTree>
    <p:extLst>
      <p:ext uri="{BB962C8B-B14F-4D97-AF65-F5344CB8AC3E}">
        <p14:creationId xmlns:p14="http://schemas.microsoft.com/office/powerpoint/2010/main" val="528901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16E477B-ACA6-40DB-98F3-AA74623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A377C-6954-49E7-9F29-8CE61BF5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5B381-EF70-4816-B6F3-9DEA82B8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65E81-7FE6-4DC4-BA43-30410B6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98BDC-7723-4AB2-AB8D-74840BEA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"/>
            <a:ext cx="8477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3: Voucher, Staff Preference &amp; Booking Creation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2F467-8B7F-4A36-B2E6-3EE65C3A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000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Optional discounts and staff preferences are validated before a transactional booking is created from the active slot hold.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EF697-47A4-43D6-8833-442487BE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"/>
            <a:ext cx="857250" cy="2571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231C8-484C-419E-BE83-D1361590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00075"/>
            <a:ext cx="685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D50CF-D683-4543-8343-5AB89C8F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D4E1E-3BE7-4D20-83A1-86673AE2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00254-8560-4FA3-A4F7-12400C45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CCCE8-2B28-491B-BA91-788B7D23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EEE33-2BA2-44D5-9097-65400A44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2267A-CE9D-41E4-BD4B-5012EC6C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43DD9-70CB-4CC3-B5A0-79822126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DA458-8097-4134-B11B-A852D969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A335A-000A-4745-BB0A-CCB2B56F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Enter Voucher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56DA4-259A-4E72-9792-B4BA839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Customer provides an optional promotion or voucher code.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AD0BF-32A4-433B-823B-9AFD146E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37EC8-177E-4AA0-947F-41E5866C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Booking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E034C-87A2-46C8-BBC7-6365A5E3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CEF1D-E001-44CF-A98E-7D61F2D3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F4C3F-AE51-40AC-BC78-7CD55914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4EABA-456A-4199-8D8B-890895E6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D9CDF-3DCC-4036-B692-F9DF4BA7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AEB51-C7AA-45A8-868E-419CEFC5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053C11-E07A-46C0-ABDD-2175C410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47097-DF8B-4B94-A1E2-0177C8F8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DCAEAB-AD50-41CB-9042-44CAF180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Validate Discount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FCE4A3-DE34-436B-A497-93D6B9B7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Backend checks eligibility, validity and discount result.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3D5A2E-B3E5-41AA-B1CF-68C55C33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C83620-9717-49AB-9071-6264D2DA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/validate-voucher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9BC9E8-A039-4AE7-89AF-16D8F342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0108B4-8C33-4FE6-84EE-93D41AE1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02E454-27F1-4270-A859-DFD30BE5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F4CD46-2306-4256-87CD-2DD051A8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6F328B-BC7D-43E0-B6F7-79BF89B7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D5B069-104A-4FCB-9373-CD325DB0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336BB9-7E43-4901-BF15-08C7AAA3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C2B0B6-EDA2-4D95-938D-C0527434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67E2D-85A0-436B-AB23-8D3575F0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Request Staff Options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1A4509-D96A-4520-B55D-23449710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Load staff candidates available for the selected time.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EFB1C7-2496-41A6-854F-5E10A6E3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4AFEFF-91B8-46D4-8182-8E34AA0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/staff-options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66A79B-FEBC-4B84-A1C4-83912E3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B65EEE-1C4E-4735-83B1-F87E3BC5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24502E-1E65-42A3-BB9D-16D8D729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BD81F4-0670-4D61-B96C-FCB1AFAD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457C42-DEE8-4C8A-9D7D-3BA74040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8F1A52-41A1-4CF4-9C2B-188D0C57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D62ABD-3206-4327-9919-4AB37A9A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F85386-DFC6-4B4E-9DBD-8FF6D1AF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14D7CD-8C57-417B-9E43-EBE5F042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Choose Staff Preference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4B6A08-EA79-41BD-B209-E11D40BB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Customer selects preferred staff or automatic assignment.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838A93-1E93-49F3-8E15-F90D55B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A333EC-B0BB-4547-A1E4-4C865D60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Optional preference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584085-2F6B-4462-BC50-D85ED52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C6B1FE-2C07-43EF-830D-C4FC95A8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FBA656-4354-4192-AC50-BE57EA1A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ED275F-E70A-4C7E-BE02-BB907B86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A45CCA-45AF-4ECD-804D-EA33F91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E2B090-E942-479A-9302-37A08B5A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CHK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C72FE7-E3A2-4271-A0D3-1FBBC8A1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B34D14-28C4-4C53-B2ED-EDA1F55C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80FF31-6565-4D54-B031-E3FB8F31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Confirm Booking Data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D1ADC9-193B-4F27-AAD4-0F60DA1B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Frontend submits vehicle, offering, slot and payment choice.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142DF4-6B63-4BE4-B92D-085273A4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4DD64C-A502-4377-B942-53E39452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Create request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B0EF37-9471-459B-898E-77B829E3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82D6DD-13EB-468B-B368-D0F727CD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0BC479-4679-45F0-9304-160C96C5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521AAD-38EA-4E95-9D03-8521269B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B86422-F911-444E-B7FA-B8C6D30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A8493D6-FEAF-4373-BF16-61EB6A3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API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D3C241C-FF07-4487-BDF1-0DCCF460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43C1CF-96B3-46C8-99EE-9E5211EA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77A8BB-E97B-459E-83C0-D4575D3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Create Booking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ED59DD-69FB-4A40-8F2A-3CC71200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Backend validates hold, capacity, voucher and ownership.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F047DF-495A-4430-94D0-42A176FB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D7E062-C5A0-4580-820C-8401C603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POST /customers/bookings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5C84FCB-E899-437B-9EE5-10DAA7B1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9A8D5E-A73D-4967-B5F4-A8315F19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DF47275-569A-4456-99BD-BB5F1C78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497F37D-D9A3-42E2-9D2B-2980FAF0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EAD07AB-A78F-4008-B8A7-C17E91EA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BB46C3-B3D4-4EB4-BF2F-F3DFE237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DB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1F60373-8B9E-49B1-8261-D5BE2B1A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77D148F-CC23-4033-A3EE-C04964A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7F73E91-A7A0-4500-AADA-C2455A41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Commit Transaction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62ECA8E-7E4D-42E9-824F-8C0B0B31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Persist booking/payment, consume voucher and delete hold.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2730B42-EBA0-4C4C-8D7C-5ED9828F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98EBA3C-8FA8-4A3A-A25E-4036D26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PostgreSQL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C3110AF-6CA7-443A-8F08-7BF8C8D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7DACF67-3543-40C7-9EE3-D17C13DB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769FB3-6FF0-4869-B744-DB75DDD3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4130AB6-4E0A-4399-BD6A-DC58E85E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BAE996-222A-4FC7-840C-AA2F33D2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152C86-6D83-4BF8-8B0F-B23C7EC7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4EBB5B-DC08-4768-8134-962C88E6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F2D78F-BFD7-411F-BBA2-678FD88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177344-BAC2-4C30-887D-1515854B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Return Pending Booking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068CB05-CAA3-445D-93B5-B4286E1D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Response includes booking status and payment information.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F721508-1106-46AB-B5A4-E78356F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5DDBBA-BC67-4C85-8101-EFF04681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PENDING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63A303-6565-4D52-B780-B5DADD99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75AC9F4-4393-46CE-A710-42DCF61C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17D6486-D740-4C32-B5B1-A3F36A19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2. Validate Discount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63258F3-1312-4EB9-BE13-73FDDB4C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E801030-3AD0-460A-B235-811F8063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DBB168F-4E23-4C31-92A5-E072EB22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3. Request Staff Options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79C9F37-1AEB-449D-80F9-1BED289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0AD0FE2-FC68-4B6B-AB10-8C166A4F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6FC5F5F-8CBC-42F3-A136-3A54FBA9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4. Choose Staff Preference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CB065CD-6496-431A-878C-6F2C61ED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47950"/>
            <a:ext cx="95250" cy="1581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9150A86-A553-4213-956C-B8C41B53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8763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B3A20F8-E74A-4549-BE4A-E022EFA7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8382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5. Confirm Booking Data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4B732B6-EE25-443A-88B3-6A5E4D3C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D425656-AE2B-42D5-A419-7A6F850B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E77DBC9-D103-4ACD-A209-09EE3B21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6. Create Booking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A4D4D72-783F-4BC4-BD38-E97CC911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F948913-6450-4AE8-A32A-AEA171CA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32840B3-A03A-45E5-98A2-8E90162E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7. Commit Transaction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43564F6-A3E7-4FD7-AD4B-BA76D20D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73AF21C-27FD-4BD7-A1E7-1AD6D1B9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282D657-1F65-4500-8DB1-EC86AC96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8. Return Pending Booking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D9254D2-9600-4BEE-8EC2-7679275E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952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8613B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5E7CB53-F9E2-4493-A763-F6E597B3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0275"/>
            <a:ext cx="103632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Booking creation is server-authoritative: the active hold is removed only after the booking transaction succeeds, preventing duplicate capacity usage.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DB96FB3-8B1B-429C-97B2-267444E9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2190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Solid arrow: next command/action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ED56197-6DC4-4536-BE2C-E7BE8F31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334125"/>
            <a:ext cx="2571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Dashed arrow: callback/realtime update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6925E16-58EC-4920-84AD-E7A6DA0F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0956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Repository-aligned: origin/dev b5ad575</a:t>
            </a:r>
          </a:p>
        </p:txBody>
      </p:sp>
    </p:spTree>
    <p:extLst>
      <p:ext uri="{BB962C8B-B14F-4D97-AF65-F5344CB8AC3E}">
        <p14:creationId xmlns:p14="http://schemas.microsoft.com/office/powerpoint/2010/main" val="1236615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84C7192-41D8-40AD-B3B8-78EC221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702B0-DBA5-4588-B5BC-63E51FBE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D4DB0-47C6-4837-ABE2-AA7520D0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B0693-5B25-493C-95E8-E0C5F81B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21FC0-2F2A-4746-BDC9-9EB7BC9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"/>
            <a:ext cx="8477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4: Payment Confirmation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2FB99-03C6-400F-979D-7D1A2140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000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Online payment is verified by the backend before the booking becomes confirmed and eligible for wash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9F941-C274-44BC-BCD5-4BD2C28F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"/>
            <a:ext cx="857250" cy="2571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850BF-B661-4E3F-ABC9-3EC0C34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00075"/>
            <a:ext cx="685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F4108-F423-4C94-8BDF-BDC0822D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5E4BD-9FC8-4ED1-9A7A-5B4FA4FA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86364-4E68-466A-B66D-A26E6F0D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86470-7C88-466F-B4EF-0ECA67C0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9D66C-0FE1-4659-8683-95DA96D4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BA71D-F71F-4433-8412-26F4DE9A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77A46-0749-4B39-8B29-5060465F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6AFA6-69C5-479E-B432-198BC29F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751E3-6E03-475F-84BA-9BB9BFF7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Select Payment Method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A4E88-5A9D-497F-8E7B-B1C23ADE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Choose supported payment option during booking creation.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1687B-40AB-4750-B4B1-AEAE6171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D8C49-CDB4-428F-B3A3-3C0C088F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Payment method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5855D-1B91-4E1B-9AA0-DE4D199A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B6A2F-4F84-4D9B-82AD-51F8E456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FD8B4-065A-4ED5-A309-D6594B06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5582E9-1065-44F2-891F-AF6889EC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231AE-6502-4DB5-8A29-F31BEA37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7EDC5-A6F2-4A9C-BD31-DEB00D9F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DE08E1-1E13-4D32-8453-AEFE9193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07BB8A-0EEA-4B7D-98EC-D221BA43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218EB-69C0-463B-8624-EFD6246C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Prepare SePay Transfer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06B30-77ED-49BA-B59D-713454FF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Generate payment code and VietQR information.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707B29-D54D-4406-98A6-081D43E6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475416-4D7B-4268-91F8-0DD91F40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BANK_TRANSFER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DB4C7A-F9F0-4119-8692-B68917DD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DEE71A-F5DF-430C-877C-691433B2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15E9B8-0783-49A8-AF11-8B86487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01035B-4FB8-4B1B-8330-CC684ACD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474673-3B05-4015-9B25-F293CDCE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4FB8E8-84BB-4DCB-9436-B0B75DA9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QR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CA54F5-5DBC-4E72-81F0-29A8B9B6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548C13-9C41-4353-A8D4-99A4F063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879081-1BF1-411D-AF8B-F529093D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Customer Transfers Funds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69C7F3-C6BC-4AE9-B4F7-090F0F2B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Customer pays using the generated bank-transfer content.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D1E3E7-5757-4017-B8CF-F9E884FC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7620">
            <a:solidFill>
              <a:srgbClr val="F45B1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DF19FE-4901-445B-86B9-BAE91C26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SePay / VietQR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0F3702-C04B-4832-B0CA-88C340C8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33278B-F05C-48C8-9828-2CDFF0B6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7F585E-1E45-4887-8936-FCF904B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682EA9-3FF9-4DB9-B10E-D8A6BD3B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AFB344-1D41-4D1F-AD2E-68C38A9C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08BF9E-E37F-4C6C-A6EB-FBE93907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B9121D-356C-47B2-A6BA-FEB6B27C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002406-56F4-452A-846C-CD46098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DE766E-A1D7-405A-8BFB-A0DD0665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Receive Signed Webhook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C65036-91B3-4254-BB26-69AF0867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Verify HMAC signature, timestamp and payment code.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A7DF4A-69CA-4092-8031-DE72BD19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7620">
            <a:solidFill>
              <a:srgbClr val="F45B1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379495-5F64-43EA-BDBD-847785FD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/payments/sepay/webhook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A22A11-1CC7-4F8D-82C1-9E938947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06C4D4-E2D9-4130-A694-65363167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CC3B6C-EAAB-4FEB-A429-61F56BBA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DF0FD5-2019-457F-B7AF-7D7095FA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ECD65A-E5B7-4F88-B578-D41903CA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DFA2B9-9643-4ACC-9E2D-3B0BE957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C6CB2E-197F-4648-9989-954F3F11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1644AB-1F0B-4A7A-8136-BB3B4B1B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E23659-F440-41E4-9D8E-BDEB4853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VNPay Alternative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D414CA-FB07-4882-93DD-24CDF4F6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Create checkout URL and handle return, IPN or query.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166509-FAB2-4161-B440-F963C35E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2BE823-1AC8-4E80-BADF-097BF698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VNPay endpoints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B80922-11A4-48D5-A20C-ADD67268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294468-E7E3-439C-A978-685FA848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6BA1BE-8D53-4CE6-97D0-67F6F79E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D04BFB-D05C-4BCF-9194-568255C5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028687-A40C-4D2E-8291-D9FFA471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69D423-9967-469C-84A4-2775091D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07D723-79EF-4352-98AC-A2C57798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B48669-9933-47E3-9288-3CA1F611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B8400ED-2BDA-41F4-A9A0-C00F894E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Mark Payment Paid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10B979-2F56-4173-AE8F-6E646398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Persist the verified successful payment transaction.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B18265-50DA-4A09-A729-C1BD2B62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B42063-FCE8-46CC-BDFB-93A0787A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PAID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EF27D75-4F8A-4570-83A3-560C5C1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F0FCA4-3212-4357-94A8-F42F8F8F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79FD26D-AB21-441B-BFB1-124761E5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30BA95C-7D5A-4ADB-82E5-23E03EFF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41E3188-1591-4ED9-8D72-DB80D826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F78A1D4-F47D-4020-93D6-32D36326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CF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77744A-5C25-40C5-BC18-D6AB3E36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A45197-A583-4BCE-A2DE-56CF0F6A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39C7A0B-42A5-42A6-B73D-9F4956CD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Confirm Booking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21D9965-4CA7-4350-AA5F-6A0DF335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Booking changes from pending payment to confirmed.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CC2198C-FCB3-4D17-B348-39338BFA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0C4FAEC-DE29-43F4-8F5B-4A6C6B5B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CONFIRMED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D0FEB3B-A12D-4988-B288-26194A65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6BADF2F-B6F2-4E25-8C30-0239CCD0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5F480C4-7816-41D6-8A71-F6BF580E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C9B1D79-2641-4D0E-BBB9-51685D18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E74A109-284D-4467-8211-F1BEEEA0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D868610-0558-4FED-AF2E-EEC8CFD9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9705165-1946-471C-94DB-7E25D205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FED2C3A-7648-4A72-8C68-7181AF7B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4331FBC-772D-409C-A3B6-697B2EE6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Assign Staff and Notify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A38F393-2108-43AE-A632-D29D2141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Select available staff and publish booking update.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48CA8F8-9B06-4EF3-A31C-4DD16F67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63FEB8-0B89-42F2-A413-1B5A4225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BOOKING_UPDATE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5A1BE48-F255-4C94-BDD1-CF8AD8AB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94A2C81-55CC-489C-B74A-392B744A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A322072-588B-4AC0-8678-4E308095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2. Prepare SePay Transfer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F6D17BA-292E-4D0D-B5E7-136811FC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0D55867-B9E6-4116-AEF5-835D742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178A39-D3BE-4342-AB91-1B24ACA9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3. Customer Transfers Funds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2D0A49-54BA-4FE6-98AF-24DA265F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859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EC1C8E4-CAA9-45B3-8D13-40504C7A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859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54E91AB-A36B-447B-8A30-02AD811F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859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5343BDC-43F5-4405-B7F5-80F0D051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859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D69BFF4-F3CF-426F-A99A-B1EC4FCD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859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7FA4B8D-7DAA-478D-9B92-CCD1D6BD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859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2C322C4-ADFE-4D3D-A779-FCF592E6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38350"/>
            <a:ext cx="1619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E1227E7-26E7-41FF-94F0-05D8B598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5B2D10E-5F3A-4143-A0BC-7228BE60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4. Receive Signed Webhook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BB361AB-E005-4176-BC8F-F0496137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47950"/>
            <a:ext cx="95250" cy="1581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A3ED0FE-0A4B-4886-A640-09F54552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8763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3DCBCEC-5DEF-49B0-AB77-626E080E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8382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5. VNPay Alternative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7A537B3-852D-4A3D-88FA-B86C0A7D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38400A7-D14A-4D5F-A9D2-5FE4E49F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FEE091D-9CF5-488B-9A34-D71CC4D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6. Mark Payment Paid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959D54D-755F-4AB3-B6EF-8F537414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6B67536-AA36-4BBD-9A46-81987CD6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19A4F27-20B7-491D-8596-3752EB11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7. Confirm Booking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173FAC7-ECA1-4BBC-AFC4-12563778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51E32A0-7DCF-4E09-9182-31AF1BB0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4A17C2F-9D01-409D-B817-CDF764A3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8. Assign Staff and Notify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423A4BD-7475-4A05-8492-10B3157E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81425"/>
            <a:ext cx="65341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8573">
            <a:solidFill>
              <a:srgbClr val="F45B1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C56723B-1AA2-40F8-A141-4DCD1FCB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19525"/>
            <a:ext cx="62674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00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Dashed connection: SePay webhook or VNPay IPN/query callback is verified by Spring Boot before confirmation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66C2AB3-5CB3-449F-A2AA-70034F38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952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F45B1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395F978-70CF-4240-ADAF-99EBFCA7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0275"/>
            <a:ext cx="103632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The frontend never confirms an online payment by itself; only a verified SePay webhook or VNPay IPN/query result can mark the booking CONFIRMED.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0C1A64B-EB0B-4630-966C-BDC19820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2190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Solid arrow: next command/action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9A2A75F-5FCA-4B06-AB0F-D9C2E126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334125"/>
            <a:ext cx="2571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Dashed arrow: callback/realtime update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AB86C6E-3BAB-4AC4-AD92-437D89CA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0956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Repository-aligned: origin/dev b5ad575</a:t>
            </a:r>
          </a:p>
        </p:txBody>
      </p:sp>
    </p:spTree>
    <p:extLst>
      <p:ext uri="{BB962C8B-B14F-4D97-AF65-F5344CB8AC3E}">
        <p14:creationId xmlns:p14="http://schemas.microsoft.com/office/powerpoint/2010/main" val="626370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FF7B249-8C7E-4309-9320-3A1E0B5E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96D27-14EB-4FC3-B76C-0BEFF45B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771EC-3AC4-499D-B37D-36F698E0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B3C01-895B-4443-86EB-67450E82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1D771-22BD-436A-9059-E9C0037C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"/>
            <a:ext cx="8477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5: Staff Assignment, Queue &amp; Check-in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344E5-045A-48F0-8D9C-9701D9C3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000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Operational users turn a confirmed booking into a wash session and advance it through controlled lifecycle transitions.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1B0D3-2233-4F7D-AD5E-24A4373A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"/>
            <a:ext cx="857250" cy="2571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E400E-CF1E-4582-B13E-8DA200C2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00075"/>
            <a:ext cx="685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08C6E-55DC-4ACC-9B99-8BB9D71A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0E043-6111-4E01-9C26-17310B41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D78FB-EEC6-46F5-B6D3-55EBAEFD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09D8F-0515-4218-887E-0CB473C6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A8E4C-62EA-4A5D-8642-F79AA84B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B97D1-6E4E-4D93-AF2F-59882768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F3E8E-D067-473C-9B7F-B5B15155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83574-3F5C-48E5-BC78-E643E62D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94BD6-9B73-4A64-810B-08045BE4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Open Operations Queue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18849-8753-4AB5-844B-6C3C85B6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Staff or manager views operational booking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6BE09-2FE4-4CC0-9E84-EFF17A21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19A2E-58E8-424E-ACD4-967D2D11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Operations 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B500D-5087-4E54-85CF-FEEDF67F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5EAE9-3DB3-4F42-9B23-F8710A1C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C6728-60A1-4142-ACF8-538A2395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28EDAE-B828-4A04-83F2-88AC9F67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179B5-EDFD-4E52-8F77-E2FAFB80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0CA045-9B13-40D2-A730-30DE5DD1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7C6AF-DC47-4773-B9C2-340F938D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2902ED-024D-42D8-A251-A5A4CB26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3E5B1A-0660-40E8-918E-7AAAF8D2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Load Eligible Bookings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1E4033-D86E-4EB5-8B0C-D6D7117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Only confirmed bookings can start a wash session.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9DC449-6E45-42E2-8BC5-1EE43497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C78C8-C667-4565-A3D1-3400F4FC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/eligible-sessions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F4CAA8-7866-4A49-AF2E-AAD135EB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434BAD-43F3-44AE-871C-834E0A06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BB05E9-EE03-4516-B26F-9A004497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D72EE3-EFF6-4879-8301-55BE772C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1E2E35-C0FB-4F10-9C64-EF52D670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19BC66-36A9-4BAD-A990-D81EC670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9153BC-90E6-4D9E-AABF-E3988707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FE9FD8-2B58-47D9-A174-7D6D27D9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0B893D-591C-4EBD-9E95-52414FDD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Resolve Staff Assignment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D11200-3E88-4424-9D57-5833EA6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Use assignment, availability and workload information.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4DA656-F60C-4538-816B-1E7B7C5E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37A784-46C5-4961-8277-BB02AA58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Staff options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6CC778-2C72-4FFF-9F88-11E48809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EEF4EE-04EB-49D9-A0DE-EAB844F9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5B0ACF-61C2-476A-8740-7FB13E3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86921C-FFC6-476B-8846-C0E1F7D6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114D02-55E4-4D78-A4A9-FE7618D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25A630-F3D9-4F1B-8268-FCACCBA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NEW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ABC54-91C6-434D-9C67-93DDA842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0B2B8D-03D3-4D62-AEB5-3AF54D4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568D0C-467B-4FA2-9F1B-773180F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Create Wash Session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6FD48A-67F1-4D77-967F-8BFFF03E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Create session linked to booking and assigned staff.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666651-5365-48CA-8D3E-201B4EAD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52B50C-28D4-4BF4-A082-24DCF081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PENDING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5D888E-1C24-4ED9-80F5-41EF3376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723C34-DF0C-4702-BADD-3676725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F535E9-C5ED-464E-A95F-E28DA002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AB8A4A-E6D1-4CCD-A287-71301306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608BFF-F208-4BB6-87E8-C3C2A05C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16CBEB-8790-4B3F-B4FF-E8E2673B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Q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2C5F04-AA5A-4143-9A48-3713F730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CABD0C-6429-4AB2-B9A8-1CFFFBA5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A9D524-961D-4C69-81C3-E7220ABC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Move Session to Queue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99BBE9-69B0-4EA5-9E1C-6C6F1BD2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Operational queue accepts the prepared wash session.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E187043-9F27-4C59-B6F1-F4D48870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BEC7AA-ADB0-41A6-A631-BE921967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QUEUED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2D057F-E021-44E2-8784-844A7D7B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6BF2D6-4E8F-44DA-8F20-14075D45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879C8D-32B5-4DFD-8A75-B40F09C6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D39DCA-9FEC-4356-8689-D536F08E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805B1B6-0491-47B6-B04F-B8E03E6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288D180-EF61-46FC-9D32-153979A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731FA5-14C7-40CB-BF05-7B1B4F3B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398649-0612-4B86-B3E5-D34167E2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9E8DC8-4303-49A3-990F-7C098CDC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Check In Vehicle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60C05B-73D4-4D2C-9DD5-484726D9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Staff confirms the vehicle has arrived for service.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965C2A7-9CF2-47AE-A742-45535F17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568DF24-05A4-49EA-BF97-0D4485DD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CHECKED_IN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515919A-0AF1-4FB0-AF04-A7812CA7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B4CECA5-C95E-4011-A0B4-7881ACC4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F9641A6-FB45-4931-8953-4DACC3E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FB25245-B6D2-4D9B-9E04-417F88AB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48BB6F9-3F1D-4CDC-BA5A-C8A8730C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35BC544-FF6D-498D-8390-ABBA0A15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GO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762519-3B79-4A62-865A-C0977CA4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BF2E60-F02A-48AA-990A-EC51D570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4AC1C0A-13E6-4431-9A4B-9D257EA6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Start Washing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6BBC56C-8CCE-415D-8386-F94B0F49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Session and booking move to active execution.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EF5E78B-41FC-4375-AA4B-E45A5B80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352B525-88B9-40AC-9F29-19356F22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IN_PROGRESS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A8C5212-C9D2-470D-A0FE-0AF05AEA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FF6036A-FE69-45D0-BE0D-E9BC9A05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C5458F4-1E97-4CBF-A9E9-A1A7552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84F6716-15C3-467C-8ED0-846F9F33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8509211-655B-42A6-BCC1-11CD88E1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4807428-102E-4AE0-932A-5D3D1FF6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EV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C93ADDE-2A76-42D5-AF0F-1888E77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F99A9F2-885A-4CC5-840B-7C376F05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4625DA9-EEA5-42E3-A6EB-8C1673C8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Persist and Broadcast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3F5736D-6DFF-43D2-A776-251B1C01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Save lifecycle state and publish realtime update.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1D114B0-EE9A-4A40-92AE-36B8CD47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A21B63C-03B4-486F-9E17-1DB2725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WASH_SESSION_UPDATE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FB7B51A-F2E9-481B-AFCB-CDF42054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AD0FA6A-59E1-4B9A-ACBF-E2A2CD3B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856E8DF-A87B-4655-8C66-F78AEDB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2. Load Eligible Bookings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F994A5B-1B0D-4FB0-BDA4-C0707FA2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B3EFC38-1494-40BA-98D0-BCD8E517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038128-352D-447D-AF5B-1DD04C61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3. Resolve Staff Assignment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0A9FCD2-2253-4571-BAA4-EF63A0A8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2729727-6155-43A7-A4F5-9478393E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2811CF4-AE2A-41B3-B1E7-F23809B8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4. Create Wash Session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6A93B77-BFFB-4CDD-AF8A-C3F5A3D4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47950"/>
            <a:ext cx="95250" cy="1581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A2C1A4D-E111-4D16-AC01-3C718029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8763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6CEDF4C-CBE3-4C52-B6EA-0985BD10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8382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5. Move Session to Queue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F0C3229-7DFF-4806-A02D-0771B2A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AF2A9D6-2A29-429B-B0A7-127475D9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D49B57B-C9E3-4EF8-87F2-9A06ACBC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6. Check In Vehicle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FA0B29F-FB4C-4B1B-A417-B2F95273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CC3AD75-501A-4980-A3AA-56A2416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94403AE-5531-403D-BF71-91F253C4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7. Start Washing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A23BB82-8D3E-4B4E-A47E-00FEA33B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6BF37D1-2746-4B24-A71D-8B33ED6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799942A-15EE-4535-9C33-030118CD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8. Persist and Broadcast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88967D7-EA20-4EAB-A76C-074F442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952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8613B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90A0A94-AC53-4F0F-ACEB-3715476F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0275"/>
            <a:ext cx="103632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Lifecycle transitions are validated by the backend: PENDING -&gt; QUEUED -&gt; CHECKED_IN -&gt; IN_PROGRESS -&gt; COMPLETED, with CANCELLED as a terminal alternative.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A0C3547-1EB0-4DD3-887A-A7D73051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2190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Solid arrow: next command/action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F3940D5-ACDE-40C1-9779-55D6F019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334125"/>
            <a:ext cx="2571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Dashed arrow: callback/realtime update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419F0B7-4FB8-4D14-90E7-67571ED7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0956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Repository-aligned: origin/dev b5ad575</a:t>
            </a:r>
          </a:p>
        </p:txBody>
      </p:sp>
    </p:spTree>
    <p:extLst>
      <p:ext uri="{BB962C8B-B14F-4D97-AF65-F5344CB8AC3E}">
        <p14:creationId xmlns:p14="http://schemas.microsoft.com/office/powerpoint/2010/main" val="5687448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5AFFD3C-3F40-44DD-A88C-DE298DBD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8BB0F-18F3-4662-BA88-3435034D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730E3-DE52-4A3A-B8C3-04334809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03029-FB1E-45C4-9AF6-45DED1D9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867D2-0023-4076-8F88-555CDCA9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"/>
            <a:ext cx="8477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6: Wash Progress &amp; Realtime Customer Tracking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52252-B78E-43C7-9350-C98C401B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000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The customer follows the active wash session while staff actions update persisted state and notify subscribed dashboards.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224B9-F407-4E97-9B36-A2AF69BA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"/>
            <a:ext cx="857250" cy="2571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0ACCD-8637-4512-9A44-3B8E10CA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00075"/>
            <a:ext cx="685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58C3C-1A3C-4BE0-956A-998FD0C3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16199-1665-4943-AD59-048FFDD6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4D953-43A4-4AE6-8D36-739E8A32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B94C8-8113-4F29-9854-EA50DA18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F6613-45ED-4740-B6F3-5C1FF693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96E83-9CFC-40C1-8CD2-E80ACE72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0AAB7-DE50-4A6A-A4A4-0C0E58F0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7F056-77E9-48B4-984B-C279F28E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F3B9C-E139-4CBC-A085-00B32208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Open Wash Tracking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7E98A-C984-4F2F-91D1-E26BC8AD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Customer opens the active booking or tracking page.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17A80-CB0D-493D-AD40-BE5ECBDE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56BE2-1C7C-43EC-89E6-E03A6C78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Customer 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07163-280C-4372-B11E-003B2283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1FA7E-37FD-48FD-A73C-CDFFABC1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F63A1-BECD-44E8-B9B7-002B3499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341A3-0A6B-4814-944D-FB9A6768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8537F-E8ED-47BB-AE7D-059A67E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4F557-3FF6-41CC-995A-82629CC4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5D9C9-BB21-46D9-9896-BABE26A9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958B2-FAF2-420B-9F38-A510C54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08AD50-7D6D-443C-ACEB-5677C85A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Request Active Session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11F39C-0EBA-4374-B8E7-25EB64F5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Load active tracking or a selected session by ID.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9376FE-B077-4D22-A237-C05BD7AD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59371F-167C-42CE-8EFC-CA24CD88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/wash-tracking/active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A30295-DDD3-48F2-B5CF-9D69CB2F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57DE7A-AE9E-417F-85D2-F474D5D6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7EDEED-1FB1-4C58-BC70-ADF0100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A053F5-44BD-4D82-8570-84040AC3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0A5235-ED40-45AF-85E5-A91F349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F073AA-B395-4DF6-9A7B-E55A4B61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F4C545-B1FD-47E8-AEDD-0D67F29D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E81CD9-7F32-4BC3-B901-64817E24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750918-3CCD-48BF-9E54-EBA3D42B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Load Session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C15B7-6643-4817-BCE9-BC3060BF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Resolve booking, status, staff and timestamps.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AA5538-4F9B-4926-B770-5FEA7EDC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5B313F-CBF8-4556-A285-BB4FDAE7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Tracking service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1E7F90-321C-4DFD-8ABC-C0C824E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50BB29-EFF7-4469-A81B-1ADCBA9C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FFC91A-6D46-4819-A096-15180C33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E0EE57-A764-4CE4-BD8F-9EA4AA09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5494E5-23C9-46CC-A9E9-81975511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451E22-76F2-41E7-A885-381775AA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3CC422-9F2D-43CE-9A0F-32F42F7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2F411A-C2E4-47EB-8212-2D6D9C5A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8A9C9F-5ADB-46BA-910C-B397EA57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Read Current State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84B46A-52F3-4C41-9EA8-D5CCDEBD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PostgreSQL remains the authoritative session state.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8BFFCC-5C6D-42B8-979F-C0CF05EE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531921-AA58-4C13-A561-3A9C159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Session + booking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AF1D65-4438-4AFF-92D3-40DCCE58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3C44E0-3F9E-4A39-BED9-6D46BC1E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147D0C-A0CB-46C0-B112-2AEAA9E3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559005-675A-42B0-BD2B-15B492D0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0CAFF4-0FF4-4FDB-942C-DACE5749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ED9CB1-3A03-4EF8-BC21-303A18AC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UP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2C56A8-D320-40B5-B299-80ED9EE5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E9F2A7-531B-41E5-BE70-12669167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765836-9B7E-470E-9DF4-9EA99696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 Updates Progress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901EDB-66E2-40BE-82C6-B753556C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Queue, check-in, start or completion command is submitted.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57F236-80E0-4BFF-A668-18B12444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D2E338-BF1A-40AE-B5F2-12EF000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Operations API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BCB77C-195A-4082-9078-A0522293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9FF52C-050C-4290-BCAE-B4E6AF34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0625FE-52DB-4E30-B94E-62DF0F1C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180107-4843-42F7-82A9-041A6ADB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5B404A9-CC27-41C8-A2F5-56BB6458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2D538B4-442A-4BAB-8F64-2A80A0CC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41B007-3075-4A47-B103-75B1E3E2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3045D8-CE20-4B84-A620-19E2125D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E8AAC4-D47E-4164-9736-8BFC8AC4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Publish Realtime Event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575B5B-41D4-4640-9D62-55337499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Backend emits booking or wash-session update.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4A3F01-9E2F-4EAF-9967-F464BA81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DC49A79-68FA-4DE4-9D4C-1C352F76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/topic/bookings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7B28BE-2F94-450A-9253-3F75C72E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B7FE7B-C12B-434D-AC0B-8D641779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137D32B-827E-4557-BFD6-E0F97AFB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5E9742-726A-4021-A2E8-C4E82053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27226F7-08FF-4D6B-ADC8-1A1D1AFA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CD5BA3-6CB8-46B7-A8A9-BECD4A6F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RQ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90CE53C-CDE4-4FF6-8599-ABECBC7D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B6EE7D-8059-4796-9403-50802CBC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238A49E-4AF9-408F-8264-BAAD14F5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Refresh Client Cache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ACE5EC-D919-4319-B64C-A46F1547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React Query caches are invalidated and reloaded.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9CA5CC0-B3A7-42C7-A476-C27F4772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7DF824B-0C59-4B93-A905-29023633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Polling fallback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36A9B18-9A0B-449A-8CA6-4C426A27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9562C1-9E0D-4E46-A91D-44DC2323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119642E-1169-49A9-8562-9E03E4F2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398E9E-53FF-4180-96D0-81549D96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C5C242A-1A77-4E0A-95CD-2416765D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62CD122-AFB1-4107-BE05-882721C0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LIVE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71E44DE-62F0-44F0-8874-1736F531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D98E255-F24B-457E-B57E-553823DC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F6FFF3-4C57-45DC-AD26-7078B46F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Display Current Progress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084E8BD-6C0E-4979-865D-9F312902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Customer sees latest status, staff and timing data.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CB38795-CA06-4ACC-8701-5755EEC8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F182F11-4D91-4875-B143-F2FE444B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Near realtime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AA0E734-3995-4B81-9DE6-2209A1C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00F9E77-4759-4519-B2CB-652F746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B4753D-734A-46C8-85DA-E8793303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2. Request Active Session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1742C91-ABF5-49EF-9765-8FCB6183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28C6577-CDEA-4FA7-8623-853985CE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13552C4-4D02-48A9-80A2-705E29D9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3. Load Session Context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3823AF2-44D1-42C0-A23E-D67564C6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3ECAF9-32FD-4224-A69D-8AAE1F12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3F08A8E-CF21-459E-8783-31C7F312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4. Read Current State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3CBDEA-0D25-4739-971F-D356AB1C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47950"/>
            <a:ext cx="95250" cy="1581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FEE0490-F58B-4A60-8997-F82AC6CD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8763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BB2DD35-0021-4B37-92B0-44AC2FA6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8382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5. Staff Updates Progress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8C2D923-D0E3-45D5-8F56-439A0687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0426EC6-2D4F-4EA2-85B9-904FA37A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862B7C6-40D5-4283-9156-0279144C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6. Publish Realtime Event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3FBAABD-B92F-4BF6-B898-2C57DC14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77202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ADB9DAF-6387-4539-B43B-D62BFF31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7202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C2C933-3F06-4AB3-8688-8827B3A3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77202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BF8F089-9F53-44BA-9E01-1FA8D677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E0A00D5-854E-4086-AEA4-1CBD0238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7202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3EB30F7-5633-4DDB-9439-591D8CE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202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5F608D1-AE3D-4D28-A724-48D97ED2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24400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879F56E-E324-4B46-9B02-FDC78281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D040944-4DD0-459D-B947-56E82340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7. Refresh Client Cache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075D6D6-4FE6-4AD6-AA8F-AE18577C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0AFD00B-198F-45D3-B0C0-4A0D71C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D044247-7B6C-4CFA-83C2-E4A6BDC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8. Display Current Progress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571D73E-2832-46B9-AAB5-AB081406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81425"/>
            <a:ext cx="65341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8573">
            <a:solidFill>
              <a:srgbClr val="8613B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136FBA9-13C0-4932-B9EA-DA1D857D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19525"/>
            <a:ext cx="62674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00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Dashed connection: STOMP /topic/bookings event causes subscribed clients to invalidate and reload React Query data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F626FEA-92EE-42F8-8874-8ACE7A6E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952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08BFD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46097A0-8E65-4753-892E-A0539587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0275"/>
            <a:ext cx="103632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WebSocket improves freshness but does not replace persisted state; reconnecting clients reload data and polling remains the fallback mechanism.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055A801-1A18-42EA-BE13-FC11921D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2190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Solid arrow: next command/action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625F6EC-745C-4304-A3D0-33A56C0A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334125"/>
            <a:ext cx="2571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Dashed arrow: callback/realtime update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13A47D2-423B-4F47-BEE4-DEF631D3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0956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Repository-aligned: origin/dev b5ad575</a:t>
            </a:r>
          </a:p>
        </p:txBody>
      </p:sp>
    </p:spTree>
    <p:extLst>
      <p:ext uri="{BB962C8B-B14F-4D97-AF65-F5344CB8AC3E}">
        <p14:creationId xmlns:p14="http://schemas.microsoft.com/office/powerpoint/2010/main" val="1516477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2564FFB-B5B4-44C9-BC18-5F8C8CFE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A7ED1-F924-4653-88F7-BF13F4C3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4FD33-02F6-4516-AD28-4E1436FC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7DD85-3519-4F26-8F67-17D80195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54F84-8BB8-407D-81FA-05F39A83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"/>
            <a:ext cx="8477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7: Completion, Loyalty, Tier &amp;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B1086-10DD-41BD-BD5F-076E2DF3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000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Completing the wash finalizes operational and payment state, awards points, updates tier progress, and unlocks a booking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10777-71EE-44D2-B9F2-DCE765C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"/>
            <a:ext cx="857250" cy="2571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01FE1-E136-484F-9CA8-0EB0C9AE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00075"/>
            <a:ext cx="685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01F22-A397-4E94-B33A-5419CAEE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C346F-D44D-4E76-B50E-398A9BD2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D87BF-5BF2-4BAF-A9F4-EB4A3DD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637A8-212A-4368-B814-1BFB5F82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A092C-330A-4693-AD1B-12066862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E7F77-4442-430A-B8F8-5FE15C69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1F816-AE56-4A2D-9625-7437479C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8684B-4F75-4BD3-8EF6-6B66897C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A5FCE-FD70-49E6-8A2C-A04FF8CF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Complete Wash Session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7ADA4-CA3F-4DB1-902F-9076E96A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Authorized operations user submits completion.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E1284-7F05-4E7E-A77E-4030FEA3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20BB5-0A8C-430F-A280-9386843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005BD-6630-40A3-8792-0307A847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851B4-F47C-40C5-AB51-A51EF083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048CD-D0D1-448C-AEC3-FDC51874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00173-E2EF-4BD4-B05D-D4208D81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EA2DB-D1EA-4770-99A6-647F0FC3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5FB8B-F285-4B7C-A0C9-D419A48E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74807F-CBFF-400C-BA44-9B2B89FF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356C8-642B-4E29-8D54-491669D6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20A808-5FD8-480C-A581-48FB12B5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Complete the Booking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46FA7C-36F5-467B-8229-64B1F33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Booking status is synchronized with the wash session.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CA10ED-0FFC-4C41-A39F-97425B9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583E57-F8E6-4C54-AABF-D7A7ED59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Booking COMPLETED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5D43A4-6447-4D63-A493-FD0BD2DE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C3DD59-EBA4-4447-86AC-133C1D42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72F235-770E-4FB3-91D2-C85D67E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E1C515-40DB-4FD3-AB8A-5965312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7029EF-AE45-4757-859A-B11CA8F5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41F910-F624-4FA7-90A2-CBB0E4F2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9EEBCD-F8FB-41FA-8E83-C8A166C0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00E5AA-8C29-4534-BC63-23D5E18D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D4944C-33E1-4DB1-A360-8D3D413E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Finalize Payment State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95319C-F03F-43DA-93AA-73D89C8B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Completion marks the associated payment paid where required.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31436E-064C-4A7B-BBA1-862D1FB7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48ED10-3746-40E4-A7DA-A4BB85FD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PAID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A6657A-A5F8-46DA-AE25-AC33EED1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558F10-F74E-424B-8F5B-8CA04186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1F6FD8-3E3A-41DD-95E1-07AC3066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850477-9E96-47A7-87DB-341BFB6A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F3111B-D868-409D-BDF4-8BAE6170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8DDEFD-CD85-439A-A3EA-B3D6FA1C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7DE80A-6937-407F-BCEE-7D906A1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B06A64-3502-457D-8864-33A62D9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387529-F42E-427F-8EBC-84D3F207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Award Loyalty Points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95C5DF-0D99-4EB1-8244-CD4C752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Create an earn transaction based on completed service.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B833E5-ECCD-4D8D-8ACD-01BDC32C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AB435B-0658-44FD-AEAC-69241A53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Point history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ACFAC5-9545-4A9A-9E75-71CDB475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8CC38E-E998-4B22-A564-D502B092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D20613-26BA-4373-A3E9-A282491D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3C4E53-6EFC-4D13-B5C5-46EC200A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497DA0-9FDE-4CCB-AF41-4B19233B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D0E299-4852-404F-9A47-F4E5B30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F72E57-EC34-4FCA-8628-C6BC7B59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C5E315-BB90-4C95-AEA5-A925EE03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130ADF-5B5C-4904-B95A-096FC4E9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Recalculate Tier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160DAA-AA0E-4C53-8195-7B86B929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Updated points determine the customer loyalty tier.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FC2D3A-D5C1-459C-951B-5E3F35C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2E3BB7-1CD1-4225-B0E7-105C98BD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Tier progress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3A2744-533E-4DF9-9C39-A07B0B55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AAA6F4-9418-4FB6-A628-DC0815D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B9FA9E-71BB-4662-A390-047CB3B8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11F7B75-2513-4DAF-B871-AA6F580E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CC5453-6179-4BEF-99DB-F7CD8C41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1FD870-DC9D-4AF7-B67A-D2EB9536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SUM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D7D34F-0811-4D14-8698-E9338F5A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96F8637-E3BA-42A5-96C4-37121206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4232B3-3AC8-4B0E-B186-8593F98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Show Completion Summary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CF33814-3B61-4B48-9AF9-D7E4A7B4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Display service, amount, completion time and awarded points.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F5AB226-8255-48C8-BC94-28703069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D5A601-8DF8-4C93-8BC1-984C6F18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/completion-summary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885862-2E28-4C95-BB27-951C0197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7F18DB-2E09-4769-ACF8-A59A53DF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F681A9E-00B4-4F02-B527-CB4A06B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6FF00B1-50B9-4F1A-A09D-76D3F7D5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5B950AC-9065-49F5-8664-8BD9C0ED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ECF146-FF0E-48BD-A88C-62AEE7E6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EB2C909-3BFA-45B8-8899-03C31D24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9E1FF18-9E27-40A2-BBEE-32EEC5BB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2AD317-AC5D-486E-97BF-BCDC493D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Submit Booking Review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08B44BD-4D16-4A17-A97A-AF7D5703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Customer rates the completed booking and adds comments/images.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1AE63B-32C8-4E0C-A7F2-C36A1B14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97384AD-5E79-406A-8310-FF5FC3E1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One review / booking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0D3DEBE-EEEA-483C-91CB-F33F5C2B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51DCA82-2C39-4F04-8BB1-DB799954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EFE3C7-1BDD-484E-9AA7-568AA526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7E1DC6A-2DE4-4B2A-939F-4796B8B7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D1FDF0-1435-453E-BE83-CBCEC57E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5A4E6E2-A5D6-478D-AD44-8C0C02D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B6F23B-9001-434C-B71C-DEE65D40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F7D9373-2D75-465A-98FB-584A1303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B4972E7-D4BF-421B-8DFA-BE4B3897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Award Review Bonus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E57B9C-09A3-4BB7-822D-792E7171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Persist review and add the configured review-point bonus.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916844-C072-454D-A936-1BE4933A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E930E6A-7ED6-4D34-ADA4-10B6274A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+10 points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E97D7E2-AE12-4547-A9CE-288C8EAF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E1076B-FFA9-420F-AA5D-FF8A67C9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8DCE63C-7F31-4ABD-BA42-4065ABD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2. Complete the Booking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F5726E2-3EF5-4AC4-B56F-5D677C7C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368739-21B6-4611-B2FF-C1B1F283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9DC5548-AC49-4661-9C86-B9222DB8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3. Finalize Payment State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258B86F-AC40-47F5-982B-26D2A179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02981BA-EBFF-4CDD-BB85-C788F3FA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FF29078-6FC5-4200-BB6E-4EE8CD43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4. Award Loyalty Points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5534127-B105-4D4F-88D8-BE32B083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47950"/>
            <a:ext cx="95250" cy="1581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7B771BE-208C-4517-9188-06DBBE15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8763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4A51374-2BB6-451D-A040-885F1E4C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8382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5. Recalculate Tier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558DCB0-DD87-457D-92A2-74A1E999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1040FCA-E23E-4227-8B84-611120AA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DB396F-605D-4CF5-A6B2-9AB50CDF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6. Show Completion Summary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70E65FF-D2C4-4ADF-8A80-38FEFE9D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747034B-F1DC-4B74-9FD8-D5FD1560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8259987-B274-4AF1-9D8D-04251A26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7. Submit Booking Review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72223F-071C-4A46-8728-AA8F6016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332948E-ADC3-4EF9-80AB-2575B9E5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C895285-83C0-4F43-A106-52C454AE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8. Award Review Bonus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FC60DA5-0312-4DB5-B31A-E7513A4D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952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DD25081-A217-4F79-81FE-B39A53C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0275"/>
            <a:ext cx="103632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Reviews are accepted only for COMPLETED bookings, are limited to one per booking, and can store before/after image URLs in AWS S3.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BDDD277-46C5-49B2-BB33-82DEF985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2190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Solid arrow: next command/action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274CFB0-6E5C-4889-B422-D052A0D6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334125"/>
            <a:ext cx="2571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Dashed arrow: callback/realtime update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6EC9517-BF41-4A85-BC60-572F73CB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0956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Repository-aligned: origin/dev b5ad575</a:t>
            </a:r>
          </a:p>
        </p:txBody>
      </p:sp>
    </p:spTree>
    <p:extLst>
      <p:ext uri="{BB962C8B-B14F-4D97-AF65-F5344CB8AC3E}">
        <p14:creationId xmlns:p14="http://schemas.microsoft.com/office/powerpoint/2010/main" val="1000401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D7D07A6-9D09-4A63-B9D5-4BD0C952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555BB-B6E0-4B44-A78C-8BD2D7F5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3538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07715-5010-4056-9AC2-D0A1E7C5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955F9-A5D0-4768-8BE6-9A8AAE55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AC1EB-CB9D-4A77-8AB6-0C92B665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"/>
            <a:ext cx="8477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8: Admin Insights &amp;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F056B-677C-426A-8DF9-82339269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1000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Customers revisit their service records while managers and administrators monitor bookings, vehicles, staff performance, reviews and revenue.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38DBD-E08E-4383-837C-CA81B4FD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2450"/>
            <a:ext cx="857250" cy="2571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7A784-AF23-43A8-84C9-89462F2E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00075"/>
            <a:ext cx="685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AUTOWASH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A7D50-5B26-4BB2-8F88-0FD7834E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4AD42-2014-4F8E-AA4B-E1B53A25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84849-9B8F-46CD-8282-DCEB467A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AA0EF-E097-4D04-AAD9-267AE2B2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21246-14D0-4D50-A7DE-D1DD2CD2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B1A37-0F2A-48F1-93DD-DBCE886C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C66C3-943D-47E0-81CB-E9B30897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3ED3D-703B-4B32-A93E-9F18EB3C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0DC78-B173-46A8-BF73-49284137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Open Booking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32290-75DC-4359-B307-3CC059F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Customer views past and active bookings separately.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F3BD9-CDCF-4CDE-9317-3C5FC7FA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5DD06-EDB5-46E5-813D-6A04499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History 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AF4C9-9F4A-4A14-ABB9-1D275181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D2BB0-3BB7-4A4E-AD6B-C6861FCA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D6646-A710-43F0-969F-090F185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5FE7F-9A01-4AFE-92FA-98CB40CC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06FE1-7364-413E-81E2-436A25CE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5C3D78-9A62-40A5-87F5-65656368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DDC355-AB97-4E14-ABCB-8B0D9D69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BD27A-76D2-43C9-B463-07C75CE6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CC471B-D8C9-4D84-BDB4-8955AAE5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View Booking Detail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1FAB07-B9EA-457A-A278-95C36E8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Load booking, selected service, payment and staff data.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E5624-0FBE-420F-BC60-E7758EB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A92238-5A9E-4E07-B500-DC0019D4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Booking 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88B86C-9731-4964-BCA9-98806F70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992FA0-46B1-4624-90CB-38142B8D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C8DBB0-AF99-4176-8F22-4076C56E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B7421C-520E-4040-B62D-6861F256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6D7700-6078-4EE0-9272-3437D994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E17FAE-A7F2-4F63-B2C4-6BD3D61E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1BFE56-5572-42FB-BC87-CC04BBC5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69904C-0338-4A18-ABF8-A761AF4E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36F8F1-2091-4A65-9CC6-F86C2E04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View Booking Vehicle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8FE472-F7FF-4659-AEBF-88231C4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Display plate, model, owner metadata and service history.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6475DC-7740-4719-A197-89924739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F02B7A-707D-4921-AF05-2EAB9E2D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Vehicle detail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066006-3BC4-404F-BDC5-19416173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7AF58B-B967-41C4-A310-DB5FDAC0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2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9A3798-F805-4FD3-8CE3-B48FD23F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8590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1A29F0-FC65-4619-8850-17AD744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8117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0A7DB2-3815-4371-A12E-9F65526E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76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B549A7-B285-4414-99B4-9366182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68063B-8236-480C-84B0-6E44B54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361EA6-0C33-41AA-A8C9-28A5EE25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4096EC-632E-4F68-AB38-4A0FE7F6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68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Cancel Eligible Booking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FB89B1-DA2D-43FA-BEB3-22CC13B8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977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Backend validates whether cancellation is still allowed.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09C7AE-5539-4634-B058-864632E8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7620">
            <a:solidFill>
              <a:srgbClr val="8613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772970-B96F-4A0A-B51D-08FDD5FF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Cancel endpoint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70683C-C07E-44D0-B8F8-417CE063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2CC732-8E5E-4A79-9BA6-E01EBBFB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90EC87-1238-4810-9A71-A8DB1E5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E37D64-ECDD-4F6F-B210-071E026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E83E86-F56C-4C30-B599-7DD02383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187AAE-3645-4FEB-ABD6-856864B3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FLT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0C9044-B0D8-4D06-8D7D-81FE8D94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02DAB2-C429-4742-BEB0-2B256955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4DC7AC-A14B-4118-926A-BEF05843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Filter Admin Bookings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B6F7A4-EF0A-453B-BB72-7E4BD1B1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Search by customer, plate, phone, status, package and date.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3D920F-553D-4144-B85D-7BAB9B71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ABF0E3-8310-4652-8926-B9F299FB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Booking management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32F669-A825-40A3-94A8-ADC62EF1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AD617F-DA63-48D7-AC7C-86A3A0ED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F7B5C2-1652-4F64-8396-B2704904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B6B391-FAF9-45A1-A342-C57C07C7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68571E-7B86-40E8-AE38-B69D67E9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84D08B-ABDA-44E1-B053-927F389D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DB6A05B-12A5-4DB7-85DE-C8DF0F14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089329-B90E-4655-9E15-646586D9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2EBD3A-91A7-4286-ADCA-3007D1FA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Monitor Staff Workload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0D3008-ACF2-4DBF-9E53-4032F04A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Review availability, assignments and completed daily orders.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6A36600-3F41-44BC-A0A7-8EF19A0F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7620">
            <a:solidFill>
              <a:srgbClr val="08BFD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2BD2C37-9599-4A84-90B0-2B403470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Staff KPI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97B76A-7266-4F03-812C-AAC6A21A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AF703F-D282-41E5-8AFC-5B1B2C77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AAADD31-E7B4-4C0F-8B96-24772752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3C780A3-4BA1-4547-925D-BA54B97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1BB08AF-B63D-49E5-95BB-75228518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6C2CD88-4151-4526-8945-D28DAEE5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REP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86DCDD0-E8A9-43BC-9A10-406BE575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30093EF-895F-4510-A4CB-180054A2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1F98385-9E9B-4B63-BBF2-4334FFE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Aggregate Reports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8B8ACF-1023-47BA-AB90-D527603C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Combine bookings, sessions, ratings and revenue.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54550E9-2A2D-415D-A769-E1ADB72C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33403A0-20EA-4E8D-815B-196E0622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Reporting APIs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CC50D4B-8E01-4B6B-AC90-3C97268B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95500" cy="11049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E47E539-1CBB-490A-9E33-6C08B6A0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F7E111-1634-4DDB-BEE5-3F7AC2FE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857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66E92E7-11B7-435F-8972-5533AF35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514350" cy="6477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A68F71-FEC2-4C2B-B3BF-710883D9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C34DD2-7AD7-4060-84CB-3C1C0896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23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KPI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D0C25C-0495-46C1-A94A-21AA0875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03DDA75-CB23-4781-BD7B-98AE921E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7"/>
          </a:solidFill>
          <a:ln xmlns:a="http://schemas.openxmlformats.org/drawingml/2006/main" w="0">
            <a:solidFill>
              <a:srgbClr val="D3DCE7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857F785-E547-4789-874D-1BB57D6D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5292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7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Display Management KPI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7E3EE9F-97D9-48D7-8255-E3B279BC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1238250" cy="3333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00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Admin and manager dashboards present operational insights.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B4094F-152E-4E2A-A6AA-A8FC847D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1238250" cy="1809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7620">
            <a:solidFill>
              <a:srgbClr val="16A3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A7494E6-F57D-405D-8D1E-B80BCD45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123950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2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Dashboard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D232230-3EFD-48B5-9F67-E15DAD0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23750EB-3CC3-4547-8D76-541BF40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BB14980-F4D7-44A7-A62F-F194B434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2. View Booking Detail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FBB786F-60A3-46B6-99E0-EB320209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06CBD94-AA35-432D-85E3-12EDF4B5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1D419D-4135-4E95-905D-E0BC61C5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3. View Booking Vehicle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E71B65-1479-4ACC-BFF1-D21D6D9A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68395AE-E154-4DC5-9154-A76112DA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04975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49B9E2C-EA6E-4AE7-91E3-CD2353C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4. Cancel Eligible Booking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3CF3AC0-F992-436D-9EB6-CDF8E3B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47950"/>
            <a:ext cx="95250" cy="1581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834ED0E-1F24-41B7-A1FE-7F906A0F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81350"/>
            <a:ext cx="8763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CC5B987-2524-4989-B838-E7D84E1D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8382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5. Filter Admin Bookings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5265915-589D-4998-8A84-B9BC607A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F83536-FD08-42EF-B796-FB018E45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0DCED43-F037-4A6B-AC22-348CF6A0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6. Monitor Staff Workload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99D407F-C13E-4372-A57D-BF405EF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401AA2-8138-4C8C-9765-A17B79F1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3A4E9D2-E0CB-4354-98B3-6733ACE6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7. Aggregate Reports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5B1D2C1-4519-4383-BE84-EBAD9201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762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FBCAC1C-3202-454C-8EA3-9E6C7DCE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723900" cy="2952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645F3B0-80E3-4163-B67A-E9A9A1A1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685800" cy="2571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8. Display Management KPI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9CE68FE-1D31-4E36-B59D-3516106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952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0478">
            <a:solidFill>
              <a:srgbClr val="F45B1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DF795DD-64A3-4078-AD25-E0B129F0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0275"/>
            <a:ext cx="103632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Administrative views consume server data through dedicated APIs; booking, vehicle and KPI values must not depend on frontend mock or fallback datasets.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0F0B161-138B-4860-BC9E-3AF42280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2190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Solid arrow: next command/action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D6FB1A4-F761-4542-9399-8A829D9B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334125"/>
            <a:ext cx="25717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Dashed arrow: callback/realtime update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C9E6AC4-653A-45BA-B0C8-9FDB6891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09562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2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2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Repository-aligned: origin/dev b5ad575</a:t>
            </a:r>
          </a:p>
        </p:txBody>
      </p:sp>
    </p:spTree>
    <p:extLst>
      <p:ext uri="{BB962C8B-B14F-4D97-AF65-F5344CB8AC3E}">
        <p14:creationId xmlns:p14="http://schemas.microsoft.com/office/powerpoint/2010/main" val="1366533661"/>
      </p:ext>
    </p:extLst>
  </p:cSld>
</p:sld>
</file>

<file path=ppt/theme/theme1.xml><?xml version="1.0" encoding="utf-8"?>
<a:theme xmlns:a="http://schemas.openxmlformats.org/drawingml/2006/main" name="ChatGPT">
  <a:themeElements>
    <a:clrScheme name="Aura Flow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Flow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2026-07-27T08:34:08.4200000Z</dcterms:created>
  <dcterms:modified xsi:type="dcterms:W3CDTF">2026-07-27T08:34:08.4200000Z</dcterms:modified>
</coreProperties>
</file>