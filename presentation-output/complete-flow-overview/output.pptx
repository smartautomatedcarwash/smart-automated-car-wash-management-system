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c2db3997be4194" /><Relationship Type="http://schemas.openxmlformats.org/officeDocument/2006/relationships/extended-properties" Target="/docProps/app.xml" Id="R94be741bb3bb4f6a" /><Relationship Type="http://schemas.openxmlformats.org/officeDocument/2006/relationships/officeDocument" Target="/ppt/presentation.xml" Id="R9d65a46966324d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e5309e42f34520"/>
  </p:sldMasterIdLst>
  <p:notesMasterIdLst>
    <p:notesMasterId xmlns:r="http://schemas.openxmlformats.org/officeDocument/2006/relationships" r:id="R32c4326e21464780"/>
  </p:notesMasterIdLst>
  <p:sldIdLst>
    <p:sldId xmlns:r="http://schemas.openxmlformats.org/officeDocument/2006/relationships" id="256" r:id="R45bf3e3d455c4ff5"/>
    <p:sldId xmlns:r="http://schemas.openxmlformats.org/officeDocument/2006/relationships" id="257" r:id="Rf873ddff13d547b1"/>
    <p:sldId xmlns:r="http://schemas.openxmlformats.org/officeDocument/2006/relationships" id="258" r:id="R759449f782b6457d"/>
    <p:sldId xmlns:r="http://schemas.openxmlformats.org/officeDocument/2006/relationships" id="259" r:id="R3f4c1b79e89f4efa"/>
    <p:sldId xmlns:r="http://schemas.openxmlformats.org/officeDocument/2006/relationships" id="260" r:id="R4649f29575df45ce"/>
    <p:sldId xmlns:r="http://schemas.openxmlformats.org/officeDocument/2006/relationships" id="261" r:id="Re0aed445af7c4215"/>
    <p:sldId xmlns:r="http://schemas.openxmlformats.org/officeDocument/2006/relationships" id="262" r:id="R103fd50d29c141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6933ad8ebf4361" /><Relationship Type="http://schemas.openxmlformats.org/officeDocument/2006/relationships/slideMaster" Target="/ppt/slideMasters/slideMaster1.xml" Id="R66e5309e42f34520" /><Relationship Type="http://schemas.openxmlformats.org/officeDocument/2006/relationships/notesMaster" Target="/ppt/notesMasters/notesMaster1.xml" Id="R32c4326e21464780" /><Relationship Type="http://schemas.openxmlformats.org/officeDocument/2006/relationships/presProps" Target="/ppt/presProps.xml" Id="R3ed0a104372f4138" /><Relationship Type="http://schemas.openxmlformats.org/officeDocument/2006/relationships/tableStyles" Target="/ppt/tableStyles.xml" Id="R853402e068fc4fd1" /><Relationship Type="http://schemas.openxmlformats.org/officeDocument/2006/relationships/slide" Target="/ppt/slides/slide1.xml" Id="R45bf3e3d455c4ff5" /><Relationship Type="http://schemas.openxmlformats.org/officeDocument/2006/relationships/slide" Target="/ppt/slides/slide2.xml" Id="Rf873ddff13d547b1" /><Relationship Type="http://schemas.openxmlformats.org/officeDocument/2006/relationships/slide" Target="/ppt/slides/slide3.xml" Id="R759449f782b6457d" /><Relationship Type="http://schemas.openxmlformats.org/officeDocument/2006/relationships/slide" Target="/ppt/slides/slide4.xml" Id="R3f4c1b79e89f4efa" /><Relationship Type="http://schemas.openxmlformats.org/officeDocument/2006/relationships/slide" Target="/ppt/slides/slide5.xml" Id="R4649f29575df45ce" /><Relationship Type="http://schemas.openxmlformats.org/officeDocument/2006/relationships/slide" Target="/ppt/slides/slide6.xml" Id="Re0aed445af7c4215" /><Relationship Type="http://schemas.openxmlformats.org/officeDocument/2006/relationships/slide" Target="/ppt/slides/slide7.xml" Id="R103fd50d29c141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135f30a8af40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ura Functional Flows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45B13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Functional Flow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7876608cd9452e" /><Relationship Type="http://schemas.openxmlformats.org/officeDocument/2006/relationships/notesMaster" Target="/ppt/notesMasters/notesMaster1.xml" Id="R7c25348f7bf540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6d7973629645aa" /><Relationship Type="http://schemas.openxmlformats.org/officeDocument/2006/relationships/notesMaster" Target="/ppt/notesMasters/notesMaster1.xml" Id="R7ae3ae4a5f284b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2e41e7c88c4d86" /><Relationship Type="http://schemas.openxmlformats.org/officeDocument/2006/relationships/notesMaster" Target="/ppt/notesMasters/notesMaster1.xml" Id="R4f67b37a2f9f46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ae6ea6c2d14c0d" /><Relationship Type="http://schemas.openxmlformats.org/officeDocument/2006/relationships/notesMaster" Target="/ppt/notesMasters/notesMaster1.xml" Id="R5f9aa7bf47ee48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03ca7070a447a7" /><Relationship Type="http://schemas.openxmlformats.org/officeDocument/2006/relationships/notesMaster" Target="/ppt/notesMasters/notesMaster1.xml" Id="Rc6971b86d75d45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387fa225e34803" /><Relationship Type="http://schemas.openxmlformats.org/officeDocument/2006/relationships/notesMaster" Target="/ppt/notesMasters/notesMaster1.xml" Id="R3e4e184bd37244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bfa4fda54340a5" /><Relationship Type="http://schemas.openxmlformats.org/officeDocument/2006/relationships/notesMaster" Target="/ppt/notesMasters/notesMaster1.xml" Id="Re608b9d1b87c47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cc5ac75b94e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d3b3179b8e43ca" /><Relationship Type="http://schemas.openxmlformats.org/officeDocument/2006/relationships/slideLayout" Target="/ppt/slideLayouts/slideLayout1.xml" Id="Ra1759a32992845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759a32992845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ura Functional Flows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45B13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Functional Flow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9d310e2314582" /><Relationship Type="http://schemas.openxmlformats.org/officeDocument/2006/relationships/notesSlide" Target="/ppt/notesSlides/notesSlide1.xml" Id="R9887bfc7bfbd48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936cd17664770" /><Relationship Type="http://schemas.openxmlformats.org/officeDocument/2006/relationships/notesSlide" Target="/ppt/notesSlides/notesSlide2.xml" Id="Rc46746b8f75344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ea83d5f7840ae" /><Relationship Type="http://schemas.openxmlformats.org/officeDocument/2006/relationships/notesSlide" Target="/ppt/notesSlides/notesSlide3.xml" Id="R7a8399a75fa24e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7901650b14a42" /><Relationship Type="http://schemas.openxmlformats.org/officeDocument/2006/relationships/notesSlide" Target="/ppt/notesSlides/notesSlide4.xml" Id="Rb5886d0b180745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1a8e6d8f64a86" /><Relationship Type="http://schemas.openxmlformats.org/officeDocument/2006/relationships/notesSlide" Target="/ppt/notesSlides/notesSlide5.xml" Id="R3dbbdc4dbd0a47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56c57e7cb46a9" /><Relationship Type="http://schemas.openxmlformats.org/officeDocument/2006/relationships/notesSlide" Target="/ppt/notesSlides/notesSlide6.xml" Id="R26a95d6264b142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c5fb85a1f43c6" /><Relationship Type="http://schemas.openxmlformats.org/officeDocument/2006/relationships/notesSlide" Target="/ppt/notesSlides/notesSlide7.xml" Id="R43613f409db047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08888C7-CFE6-4600-A7D3-6EDF0982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9E40B-055B-4D54-A564-F0122073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0415A-9BD1-4BF3-B69C-2885038F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7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FE4D9-18DC-4FB7-8454-D3227E5B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"/>
            <a:ext cx="12954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65F6B-7C79-409C-A57D-1E9D035A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15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5AFA3-B6EB-4118-9328-B9EE10B7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4825"/>
            <a:ext cx="7715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1913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Scenario 1: Overall Functional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867FF-B865-4491-AD60-183D5694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990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4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The complete AutoWash journey, from customer preparation to daily operation, loyalty and management.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124FC-D321-4181-8DC4-61FFD876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D"/>
          </a:solidFill>
          <a:ln xmlns:a="http://schemas.openxmlformats.org/drawingml/2006/main" w="19050">
            <a:solidFill>
              <a:srgbClr val="08BF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4185A-412B-408D-9E98-D4B8CF5F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2DEF3-654F-4672-9C62-0EA025B6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EED2E-C3E8-4E17-9874-DBB0FA06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6B074-B29E-4A35-BD96-8114D54F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Account &amp; Vehicle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DA7D4-085B-44C9-8BD7-07F30880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8DFBB-7CA7-498A-A59B-645C0E70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0F700-7790-49A7-849F-8973B02A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1C45A-C1C6-4BFD-8786-291A9722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610FB-A30A-4E35-971C-F10C49B0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Services, Combos &amp; Promotions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688F37-4999-4BD5-A230-6359337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DFB"/>
          </a:solidFill>
          <a:ln xmlns:a="http://schemas.openxmlformats.org/drawingml/2006/main" w="19050">
            <a:solidFill>
              <a:srgbClr val="861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9E59EC-A565-41F4-9475-1A44C6D4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402E49-85AE-4D81-880D-C90D2078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E2A924-B030-49D9-9A3C-58CE7556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E58AD-FE5A-4CD3-97C4-FCE5305A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Schedule &amp; Capacity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757D1-DEF9-42FD-A9F5-E5CC33FE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9050">
            <a:solidFill>
              <a:srgbClr val="F45B1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91D5C-3B6A-41EE-886D-9DA1668A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F2DEE3-4E0F-42F7-B5ED-FEAF5224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01D178-7937-42C1-826B-C1508067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85D3C4-7E0E-4881-B839-DE4B7401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Booking &amp; Payment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37E151-86D6-44B1-9EE5-D05214D1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88EBB8-BC4D-4DCA-9C6B-DCDDC44C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3B26DC-03BC-4ACA-B63F-C476B73E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4E4808-4066-4822-BE43-6F23AE29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5DBD3E-7CED-4FD4-8E02-73595E96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Staff Assignment &amp; Check-in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C70243-8AE2-4DE9-8E34-B29F6C7C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D"/>
          </a:solidFill>
          <a:ln xmlns:a="http://schemas.openxmlformats.org/drawingml/2006/main" w="19050">
            <a:solidFill>
              <a:srgbClr val="08BF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47EDEC-B6E1-4A4E-BF36-F1B52A05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A69290-F0B5-4D3C-8201-E4C0201F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557F8F-28F5-481B-9680-33359AAD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0D86DF-94A9-4C9D-AD52-A4F54825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Wash Progress &amp; Completion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E262F9-610F-4FFC-B7A0-A4E2E6E5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7381F7-E64A-4F0E-BBE0-76302E5D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CF1B39-4070-46A0-99D9-E5F7CDAD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4BEA26-96BD-4831-93C4-8B02FC40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BD8671-421F-4603-B37D-ABE7BDB1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Points, Tier &amp; Rewards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80B2AB-FD60-4C55-A8D7-96058FAF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DFB"/>
          </a:solidFill>
          <a:ln xmlns:a="http://schemas.openxmlformats.org/drawingml/2006/main" w="19050">
            <a:solidFill>
              <a:srgbClr val="8613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B1A326-B08D-4CAA-87DB-50ACCCC6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AAA2B4-6B2A-4D3C-A497-442D0BB8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4E4B41-6873-410E-9614-D7C4FCB4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4B8C7D-81DC-4083-B567-4462AF7D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Review, History &amp; Management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86F3AA-AD8A-40BA-A46D-DCBC6FAD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76F79C-BC43-4DCF-A41A-66FEAC50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Prepare customer information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1DC1E3-268A-4CE9-B9D9-016D8A01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3FA066-6C64-471D-8379-99D7F570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Explore available offers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5DDC412-7F31-4EE7-8297-41EEFAC8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464F72-9C62-4CF5-8FFD-65B98A33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Choose an open time slot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A20E1F-8675-4A1E-86A8-E489A719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114300" cy="1381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51D1FE3-09F4-4C19-8A43-856E530F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Confirm the booking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3D6E27-CD82-4884-A229-BBC3204A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22C33E-0E41-4D44-8ED4-C4BE8F50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Deliver the service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5E7EDA-04E4-4435-B3E0-51C86390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C58C680-E4AA-42BC-B8E8-F1A1A72A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Complete and reward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53DBCB4-FFB8-4C68-BCD4-061AFF24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D59732-96D5-4841-9546-543393B4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Retain and improve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738419-753D-42EE-8DCF-18BE3E00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5905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1430">
            <a:solidFill>
              <a:srgbClr val="F45B1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41E894-BD2A-404B-B7DD-942EFD1B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1809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PROJECT HIGHLIGHTS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BEFF3F2-8233-4BFA-8B40-35E5B521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48325"/>
            <a:ext cx="8458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Capacity-aware booking, staff workload balancing, live wash progress, loyalty tiers, promotions and centralized management.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1064755-0A2D-411F-924B-75139D54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86450"/>
            <a:ext cx="84582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All major features support one connected service journey rather than separate user experiences.</a:t>
            </a:r>
          </a:p>
        </p:txBody>
      </p:sp>
    </p:spTree>
    <p:extLst>
      <p:ext uri="{BB962C8B-B14F-4D97-AF65-F5344CB8AC3E}">
        <p14:creationId xmlns:p14="http://schemas.microsoft.com/office/powerpoint/2010/main" val="17537112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13E481-B1F0-4417-BF99-DCFA0CCA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6F683-C9FC-466D-8AC8-E02DEA0F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90553-EC42-4EEE-8D88-CAA5521B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7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27402-5623-464A-83CC-7E94724C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"/>
            <a:ext cx="12954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081BC-B3A4-4289-806B-2A932868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15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53A61-14CC-4D0D-A4E6-DF51EA22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4825"/>
            <a:ext cx="7715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1913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Scenario 2: Account &amp; Vehicle Preparation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F12BF-435D-4BD0-8232-46B70AAE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990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4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Prepare verified customer and vehicle information before creating a booking.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2220F-F561-4E4B-BCB8-C4D14098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D"/>
          </a:solidFill>
          <a:ln xmlns:a="http://schemas.openxmlformats.org/drawingml/2006/main" w="19050">
            <a:solidFill>
              <a:srgbClr val="08BF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4988B-1257-4A6F-990A-8620AE83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CBB13-EC25-4C65-8B1F-1F809FA5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FC4CF-AEB6-4C71-B587-FEE1AFD8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C24EB-EF65-4DC3-A787-2D538D1C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Create an Account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091DF-E0D2-42EC-BB9C-B0CA12FE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FEEB9-1823-4949-A94F-F5D52206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05C2C-853D-4BCE-B819-0A024D4C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61D87-2089-4DAC-8F69-AF13FED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9E3B0-0D69-4FB8-8941-A44E3C77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Verify the Account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B0DBD-4D14-4C96-9B87-86267705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DFB"/>
          </a:solidFill>
          <a:ln xmlns:a="http://schemas.openxmlformats.org/drawingml/2006/main" w="19050">
            <a:solidFill>
              <a:srgbClr val="861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7E34C-C268-4B6F-B84C-DAD0345A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4E55A-2C21-4B0B-9049-2FA301B2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025D52-EB7F-4324-8920-48405783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B14491-E3EF-4AAE-828E-616A6319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Sign 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81348-B022-4CA3-85D6-73AC229C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9050">
            <a:solidFill>
              <a:srgbClr val="F45B1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1E1BD-BF6A-4E0A-9924-021F2059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CD2B5A-D937-4348-B130-67F64902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87B92F-3B1F-4E29-8D8A-2226BE0A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07CC49-E65F-4E9F-B035-7ACE60F3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Complete the Profile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252955-4655-4F8F-A8D6-C32AB1A6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EF09CC-256A-48DC-8660-6F833CEE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2E3FE4-1115-458A-9050-02F0E189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45644D-A205-4510-87F4-110109CA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0A303E-78AA-41F2-96E0-986DAFE9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Add a Vehicle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8D5E68-CD8C-47DF-928C-6A00D1BD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D"/>
          </a:solidFill>
          <a:ln xmlns:a="http://schemas.openxmlformats.org/drawingml/2006/main" w="19050">
            <a:solidFill>
              <a:srgbClr val="08BF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ECB727-7DFB-4173-8B43-6352CCFC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#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4C043D-B6DC-48A0-9F8E-F1D7EDE7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5A1ABB-DFAA-446C-A5A6-B6928EA7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BAA7CE-9E5D-4F7E-B4DD-B089BA8E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Validate Vehicle Details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593218-A821-45EF-80C1-D6033BEA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7EC2A3-E568-445E-ADA4-055E14EE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1A83C4-6E13-4B47-A0ED-5BE5436C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797DC6-49D0-4C9C-9DCB-1D95BAA1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490B04-7D09-4682-961F-90BE060D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Set a Primary Vehicle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E23B04-7241-4E42-A155-EA818EC9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DFB"/>
          </a:solidFill>
          <a:ln xmlns:a="http://schemas.openxmlformats.org/drawingml/2006/main" w="19050">
            <a:solidFill>
              <a:srgbClr val="8613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83AD12-CC44-4390-9B70-A51C009A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9AA3E6-4EDB-4133-979C-AC5ED742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638B90-3863-4B01-AF8F-2B7D23E2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8DD6A0-D114-474F-9FAC-F0E7B426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Ready for Booking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5128DD-6A5B-48B3-8E11-5A9270C0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AAC8F7-A7B5-437C-B75A-FC6EAAB9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Confirm customer identity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0391AB-1904-4828-8365-056E21F9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3828BC-2AEC-430F-A74B-0FD6D502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Access the customer area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8D0608-27F0-4F22-913A-3BDF1C65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C3EA54-FFD8-4F79-B1FE-F1A2DA33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Add personal information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D1C341-CCF5-4DC3-8C84-A7AA3EA3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114300" cy="1381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D7FB17-5233-472E-860E-F93F6D91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Prepare vehicle information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761388-FBC3-44C5-AA39-8198A6CF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85C7AC3-F95D-448B-BA66-0F7E4465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Check required details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EE4858-7551-4E76-A8EE-7E6BBEFE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A6341D9-F177-4922-9268-79711E44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Choose the default vehicle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EA92021-C0B7-44BB-B601-8DAC2558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087563-601C-4D1D-8E9A-29CC72AA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Continue to booking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54329E-2E67-459E-94F1-45DFAD22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5905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E05962-C0DF-4A44-953A-27589EFB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1809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VEHICLE RULE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5F4CED7-8F0E-4B11-B96B-A5820CB1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48325"/>
            <a:ext cx="8458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A saved vehicle can be selected as the primary vehicle and reused for future bookings.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9AC7B4-09D3-4456-8E0E-B48DC2C2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86450"/>
            <a:ext cx="84582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Duplicate or invalid vehicle information must be corrected before the vehicle is saved.</a:t>
            </a:r>
          </a:p>
        </p:txBody>
      </p:sp>
    </p:spTree>
    <p:extLst>
      <p:ext uri="{BB962C8B-B14F-4D97-AF65-F5344CB8AC3E}">
        <p14:creationId xmlns:p14="http://schemas.microsoft.com/office/powerpoint/2010/main" val="1891117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BC8BCF3-9454-4E66-BEB9-5E8BFA63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9ECD3-D739-4303-A811-5286E286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16FD9-E392-431F-B622-EF67EF36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7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B0968-FDBF-49DE-83FC-CD52E2D6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"/>
            <a:ext cx="12954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90694-E63E-4C8B-839C-5F76D6A5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15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23950-E725-47E6-95B8-3ED2588E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4825"/>
            <a:ext cx="7715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1913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Scenario 3: Service Discovery, Booking &amp; Payment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C4F1C-09F0-4DC2-9E16-EBDA8DD6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990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4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Select the right service, reserve an available slot and confirm the booking through the chosen payment method.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28265-3F5A-4C72-BA5E-66DBD6A5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D"/>
          </a:solidFill>
          <a:ln xmlns:a="http://schemas.openxmlformats.org/drawingml/2006/main" w="19050">
            <a:solidFill>
              <a:srgbClr val="08BF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9631A-D9A7-4F9E-8841-8720716C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AB63F-6D87-4F3A-ABF0-FEA4C515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60014-5403-4B54-8188-AE845696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4EE05-E6F8-47E0-A463-1E8394FC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Explore 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9A603-B4BA-46D3-A30F-78AB8478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E0647-47D4-4F22-959E-6799F9B1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7B1C3-D510-4B31-8499-E68AA567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C60AF-6948-4527-8FEA-ECE67922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5E85A-C1C6-424F-ACE5-459EFB79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Select Service, Package or Combo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B2BC3-F7EA-4A28-9329-72C99E05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DFB"/>
          </a:solidFill>
          <a:ln xmlns:a="http://schemas.openxmlformats.org/drawingml/2006/main" w="19050">
            <a:solidFill>
              <a:srgbClr val="861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474E71-7637-41DD-98FF-0C1C9629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3B99B-AF71-45D0-9846-CD4725F9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2D9D7C-C94D-445C-8C38-ED87F974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08942E-EE58-48DF-87FA-C1210300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Choose a Vehicle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15BBD7-972A-4CAF-86E6-A46EC196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9050">
            <a:solidFill>
              <a:srgbClr val="F45B1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56BB15-498B-4640-9BC7-1CEC5597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FD8627-EC84-4DE6-AD11-E7EA76D8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4946AC-BD21-4330-A3E2-3BEBB66F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B090C3-02B7-4616-BBBB-CDCFFDF7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Choose Date &amp; 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30B107-B396-415B-9625-4252DD42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CC68FE-B674-403B-B452-2332E3AE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D3CAE7-7C64-43E1-88E8-3E335297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F75D0B-2D90-4D87-BFB8-186F94A0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1122BB-04BE-4174-836E-051EBAE2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Check Slot Availability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05DF4F-01EE-4A51-894E-5A2B67B1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D"/>
          </a:solidFill>
          <a:ln xmlns:a="http://schemas.openxmlformats.org/drawingml/2006/main" w="19050">
            <a:solidFill>
              <a:srgbClr val="08BF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21A0D1-87B1-4AF5-8AD2-C63A2AB8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C27C5D-3CFB-4DE6-96AB-9163AD0D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DC425F-E00B-4518-9F23-77704749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2BBBBE-69E4-4808-96A5-397DE7C6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Apply Voucher or Preference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1145F6-4E66-4425-BA09-B9C948F5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674EA9-4E0C-4000-88D7-303B1E7B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8E46CD-D22A-466A-A0F3-2C080A41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EF5B25-8EA0-4210-8FBE-EF9FB915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9A1A57-416E-4E3D-9342-15F5065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Choose a Payment Method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C82FD9-4BEF-4E17-AA6F-9796231D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DFB"/>
          </a:solidFill>
          <a:ln xmlns:a="http://schemas.openxmlformats.org/drawingml/2006/main" w="19050">
            <a:solidFill>
              <a:srgbClr val="8613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76D8F5-4C9C-4864-AE7F-52EE87A7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D8D929-4A42-4738-AEDE-CD66A5C3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42C1E5-9110-46CC-A546-993B9900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1D57A6-3D04-4AF2-B0E7-785997A6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Confirm the Booking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CD3860-67D0-40C4-8D15-2D51F38B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0F0DAA-6144-4A37-BF89-9E43D3B9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Compare available offers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A82050-F265-4FE0-92A4-AF0D88A2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CE0245-65B4-47CB-BD96-5FE2B3BA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Prepare booking details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D0BF76-CBE8-45BA-98F8-74F58BA9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D6D815-9063-41CE-B98E-89208803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Choose an open schedule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7A5F68-A760-4DF2-8A32-73094793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114300" cy="1381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11A947-0A12-43A6-9775-F0D1F1C7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Validate capacity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DEE831-0963-49E1-872D-F38FAF5E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A13ADD-27FA-4D05-945B-41677926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Complete booking options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909A30-8399-464D-A7A1-420F2070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C9DBA03-054D-43FA-83C7-075DDDBF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Pay online or at counter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1BE3CEB-304A-4A62-A4D1-ECF76BAE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80F82A-2ACD-4FA0-ACC8-5E2FB848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Receive confirmation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26A7D52-1BBA-4C59-9B96-3A489C27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5905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51461BC-FA1A-46EB-9F47-AC83D875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1809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BOOKING RULE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4A0C851-2D1D-4260-94D6-BFD441CF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48325"/>
            <a:ext cx="8458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A full or unavailable time slot cannot be selected; the customer must choose another available time.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769E4F6-2F4D-42F0-8D7B-782758A8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86450"/>
            <a:ext cx="84582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Pending online payments may expire, while cancellation and refund follow the booking conditions.</a:t>
            </a:r>
          </a:p>
        </p:txBody>
      </p:sp>
    </p:spTree>
    <p:extLst>
      <p:ext uri="{BB962C8B-B14F-4D97-AF65-F5344CB8AC3E}">
        <p14:creationId xmlns:p14="http://schemas.microsoft.com/office/powerpoint/2010/main" val="1113525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E7306E7-0317-4874-A313-4ADDA04A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6A044-47EC-428A-9EDE-5E1F9E58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187B5-07BC-4C64-9FA4-9A91BAE9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7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5ABFE-897E-495B-A369-65621CF7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"/>
            <a:ext cx="12954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F572F-070D-4900-8900-2D46915E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15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B8FA4-9FF7-41B5-A5BD-9CC500DE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4825"/>
            <a:ext cx="7715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1913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Scenario 4: Staff Assignment &amp; Car Wash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B02B0-7C37-4031-9B51-03C57B14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990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4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Coordinate staff, vehicle check-in and each wash stage while keeping the latest service progress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5B66F-546D-4111-866F-CC69AB20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D"/>
          </a:solidFill>
          <a:ln xmlns:a="http://schemas.openxmlformats.org/drawingml/2006/main" w="19050">
            <a:solidFill>
              <a:srgbClr val="08BF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B49A4-25D2-4E1A-B6E1-2D0036AD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1B6DA-2FDC-4C2D-86BA-E0C01CAE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C6858-E1AA-47DE-BF3E-6F843064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5065D-F5AB-41DC-86A8-478A3D3B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Review Confirmed Booking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6018B-AB57-44F1-A4F8-6CE42219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AF3EF-9EB4-4FCC-995D-82389940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495E3-F20B-4154-9AD5-BDA75E3D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000B5-4CDD-4F34-9B8B-20A87B11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50A039-F78A-4E42-B5AE-FAE9809F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Check Staff Availability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12C49-494A-4A81-9879-7EA23E7C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DFB"/>
          </a:solidFill>
          <a:ln xmlns:a="http://schemas.openxmlformats.org/drawingml/2006/main" w="19050">
            <a:solidFill>
              <a:srgbClr val="861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A2F586-BA4B-4996-83C6-05B9EEC9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0DDC34-F488-4ECB-824F-A4A4A1F3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805C6B-5BB1-4EEA-B491-33AB7A94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A37A54-1A57-4282-B2CD-E78777EA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Balance Staff Workload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954FDF-C895-47A6-A36D-A32E87C4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9050">
            <a:solidFill>
              <a:srgbClr val="F45B1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B84C9A-344E-4473-B899-637794D7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818CBF-5459-441B-9D10-57D94448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835604-25DF-44BD-A890-C0316321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DBDBF5-B3AF-44B1-99CA-8972B79B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Assign Staff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3F37C2-6A4F-4B0F-B5DD-86294DC4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A29989-B7E2-4DD0-A2A2-E522D590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AC997D-8639-4218-A32D-A8E350C6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9DE3F7-C411-46CF-9C3A-3F00B8B1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0A5DDA-D5E5-4404-8A36-C6F25A89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Check-in &amp; Queue Vehicle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136F8E-75D4-4E26-A410-1FCE9A65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D"/>
          </a:solidFill>
          <a:ln xmlns:a="http://schemas.openxmlformats.org/drawingml/2006/main" w="19050">
            <a:solidFill>
              <a:srgbClr val="08BF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791575-EBC7-4F96-9A14-E4262155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1E21DB-1D5E-4CC5-AA71-005E5CA6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091C46-5117-438E-B75D-32C9BC8A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7D30D1-08F7-4354-899E-549C0076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Start the Car Wash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9A4722-574A-4984-B62D-A163D784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69CD70-04F4-4552-BEB3-B690780C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↻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6F382A-B5B1-40AC-9AF7-1F3005EA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D47926-88CF-4845-9B85-FF4D269E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E29E2C-AB0C-4638-8D69-12081170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Update Wash Progress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85EAC4-60F5-4520-917D-D34FD4EF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DFB"/>
          </a:solidFill>
          <a:ln xmlns:a="http://schemas.openxmlformats.org/drawingml/2006/main" w="19050">
            <a:solidFill>
              <a:srgbClr val="8613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CDFF65-EC72-4CCD-AD54-D6DC2C68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72A534-EA13-4F24-8767-3BA4935F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A25D61-C6F7-4A69-A439-223D2206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368211-53DA-4017-B0D0-C1401848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Complete the Service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975ECF-2327-45AD-8061-1FC50047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1772A7-15FF-4432-9495-96505213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Find available employees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987004-807D-45A2-BF0C-A4F18F30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E8EB45-0A4B-475F-B7F5-C18C62AC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Distribute work fairly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5B61DC-447E-470F-8536-34B840A2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8D4846-B607-4F01-8842-47DCB895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Prepare the assigned team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B1E0A7-2197-43F1-B517-A0B1C6A7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114300" cy="1381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07E862-90D3-4130-BCE0-867732CE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Receive the vehicle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D6BCDF-DC0E-44C2-ACA6-5AB112D0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DAB0A9-0A1C-4A56-88DF-BE3F7802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Perform each wash stage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6B5166-2D6C-45D5-B4B4-B94188F0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581D4A-B970-42CA-80AD-D8323556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Show the latest progress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EAAD1C4-27BB-4B7A-ACD9-46E4B67D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E1564D-2D92-4AC8-BCD4-3069792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Finish and notify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8DFF94B-6654-401C-B6D8-8B042B19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5905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1B12AB5-7E8C-46E9-8D83-BB071B76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1809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OPERATION RULE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4EF915C-45BC-4EB7-8A1D-EE3F1DDC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48325"/>
            <a:ext cx="8458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Staff are selected by availability and workload so daily assignments remain balanced.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BFC906-808A-4BA1-9FF7-024120B1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86450"/>
            <a:ext cx="84582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The customer and management views follow the latest booking and wash status throughout the service.</a:t>
            </a:r>
          </a:p>
        </p:txBody>
      </p:sp>
    </p:spTree>
    <p:extLst>
      <p:ext uri="{BB962C8B-B14F-4D97-AF65-F5344CB8AC3E}">
        <p14:creationId xmlns:p14="http://schemas.microsoft.com/office/powerpoint/2010/main" val="279804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708FF64-5AF1-44FA-A235-051CD907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81406-F4F2-4BBE-8C9B-AE21486A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40C6B-3175-4AA1-ACB7-1D337C39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7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6B780-B084-4C98-A1B0-B348ACA4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"/>
            <a:ext cx="12954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EAE74-8B46-4BD1-9D14-BEFE6F9D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15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34AD8-BE2D-4659-AA37-40A06D00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4825"/>
            <a:ext cx="7715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1913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Scenario 5: Combo, Promotion &amp; Loyalty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13F83-5749-43B6-92C0-CCFF1539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990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4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Connect promotional offers, combo benefits and membership rewards to completed car wash services.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36F9F-46BA-40D0-B027-B8D5E5F1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D"/>
          </a:solidFill>
          <a:ln xmlns:a="http://schemas.openxmlformats.org/drawingml/2006/main" w="19050">
            <a:solidFill>
              <a:srgbClr val="08BF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560B7-5C81-4BB6-99EB-FAACE38F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8F58D-8A09-475B-8A0E-B84B0913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E36B7-97CA-48FF-9874-6389A02A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5F2B3-2285-4A8C-A2F0-43F2C493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Browse Offers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AF3DB-53B6-49D6-92DE-F89A0D9F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1EDF3-A7EE-4E77-A5E8-98E6E208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4AB08-FF43-4FB3-85FA-C0EB6AD5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51DD1-CBD6-4AF0-BBDD-908F9450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976C5-29CD-4799-A667-B47CA2DC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Check Tier Eligibility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8B1A8-95E6-4792-A4AD-4260C167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DFB"/>
          </a:solidFill>
          <a:ln xmlns:a="http://schemas.openxmlformats.org/drawingml/2006/main" w="19050">
            <a:solidFill>
              <a:srgbClr val="861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FD5C8-D966-49D9-A325-FD63E1F6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A0D2E2-606E-4E27-8E25-459D2FA6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EA201-DFEE-44BF-9884-B305CA4C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40799-3FBC-4EF5-BEA5-1A7DDE59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Buy Combo or Apply Voucher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4D78F9-36ED-4B9F-AA9E-60F6620E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9050">
            <a:solidFill>
              <a:srgbClr val="F45B1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39F7E3-0C96-424A-B8DC-FD3A62E3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E72ACD-B491-4C1E-B465-CBB3168C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9DB72F-98C8-4477-9AFB-BE94539C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D78C3B-1430-497A-A2CE-83CE1059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Confirm Payment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04C39D-2C76-4AE6-A55B-F75C62B0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F796E9-C3C6-49FC-92D7-328B8761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2B4C1B-3B7E-4615-9E92-7E460873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978FC3-B3D9-42B2-AE85-2F309529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281BB2-94DA-4EE0-853A-D2B33CCD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Activate the Benefit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B297E6-ECF3-439A-9604-A3B7F139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D"/>
          </a:solidFill>
          <a:ln xmlns:a="http://schemas.openxmlformats.org/drawingml/2006/main" w="19050">
            <a:solidFill>
              <a:srgbClr val="08BF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F727A5-C5D3-415C-82A4-3BF5D430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91CBFF-C29F-4A2C-9F7A-A783C407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1AE0A7-6D2D-4BAB-8952-0943D3E0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A1CB5A-9200-474E-8AE6-F85054D6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Complete an Eligible Service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382CA1-F40A-4AD5-ABEC-A6452FC8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E1D56A-7076-487A-8EE5-17C276E7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1A7EF0-0684-4F62-BE17-A1F8F413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748053-D4A4-4FF0-8A2C-950E525D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98B461-8569-4801-9199-F920C161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Earn Points &amp; Update Tier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8BBBB6-F2E9-45F6-9602-1062B32C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DFB"/>
          </a:solidFill>
          <a:ln xmlns:a="http://schemas.openxmlformats.org/drawingml/2006/main" w="19050">
            <a:solidFill>
              <a:srgbClr val="8613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62DB92-DD59-4C60-93BD-9E3CBB8C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237834-92A3-4416-BD05-326A634A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AD7199-1AAE-443E-AFCB-AEA02E38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CADF55-62A9-49AD-85E6-BE29AFC4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Redeem Rewards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60F5AE-2BFA-45E6-9511-D6D0AD79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53BA6F-6A9A-43B2-83D5-D364CBD6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Match the customer tier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A3D712-83F1-4E0C-8117-60CB81AE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6B9A15-756F-41DB-8058-151DE8B0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Choose an eligible benefit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D2342F-5C87-4527-9EB3-2BD0A01A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A7722E-E40B-4442-8BF7-615C1C48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Complete the purchase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E69CCF-8291-452C-82B2-F7315862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114300" cy="1381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9265E16-B581-4A51-818C-8A2E97B6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Make the offer available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9B2986-9E1A-490B-976D-80C5CB69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7C185F-84B9-410A-81FD-C02F34F5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Use the benefit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F601E5-444F-4B62-B561-DC9DFB7F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776DB8-CF5E-4001-B7E7-AF83F24E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Add loyalty value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161F986-1B29-4DDF-A0A6-7245C20A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658E33-4115-4533-ADC4-20609FF0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Continue the reward cycle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EB1656E-D788-4A34-AE5C-6EB2B02F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5905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1430">
            <a:solidFill>
              <a:srgbClr val="F45B1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1E00FE-6621-4FF7-9047-9376C3A1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1809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LOYALTY RULE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584D260-BA12-4039-9585-848799EA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48325"/>
            <a:ext cx="8458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Offers may require a membership tier, enough points or a successful purchase before they can be used.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ED5A2E3-B070-4116-A93F-86C8D7DA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86450"/>
            <a:ext cx="84582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Completed services can add points, update the customer's tier and unlock future rewards.</a:t>
            </a:r>
          </a:p>
        </p:txBody>
      </p:sp>
    </p:spTree>
    <p:extLst>
      <p:ext uri="{BB962C8B-B14F-4D97-AF65-F5344CB8AC3E}">
        <p14:creationId xmlns:p14="http://schemas.microsoft.com/office/powerpoint/2010/main" val="15611899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CCD357A-FA96-4D73-B71C-743809F3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80D00-3095-4FCE-A187-8719D8DE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0C904-3E14-475E-97FF-50B603B0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7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CB736-25A0-4F3D-8AAF-C6FFD29B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"/>
            <a:ext cx="12954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13059-A203-467D-B7FE-3464BCFD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15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10302-3321-4B3C-A251-A29D3E09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4825"/>
            <a:ext cx="7715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1913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Scenario 6: Review, History &amp; Customer Retention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A495A-7265-47C7-AAF5-5E36F739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990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4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Capture feedback after service, reward participation and keep the customer's service journey accessible.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2025F-BCBD-4D2A-8BD5-5EE4CD78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D"/>
          </a:solidFill>
          <a:ln xmlns:a="http://schemas.openxmlformats.org/drawingml/2006/main" w="19050">
            <a:solidFill>
              <a:srgbClr val="08BF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A4532-48B7-470D-91A3-A5612FE5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E72FD-21E4-471C-B40A-DAF4F34F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1F697-F692-4C06-8ECD-B92F554F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87145-6161-4927-A475-E7FDA237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Open a Completed Booking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19BD5-23A5-4CD8-A425-A8E43082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ACE73-306E-4B09-B301-A869EC5B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41F4A-4576-4923-99F5-0C915774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9C53B-F0E0-42AE-B146-923D9E70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85DC0-4CCB-45FC-8570-6A5D8147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Rate the Booking &amp; Staff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458E5-195D-48BB-BA57-2CB2FEB7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DFB"/>
          </a:solidFill>
          <a:ln xmlns:a="http://schemas.openxmlformats.org/drawingml/2006/main" w="19050">
            <a:solidFill>
              <a:srgbClr val="861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4653C-695F-4CC5-943A-E797A2BE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EB710-DFB1-44FA-A821-BC0FB7A5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D2EA3-57A9-400A-A749-08CEFB0B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7A6D9-22A8-48C2-AE84-452468E2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Add Comments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8EE137-1CA8-480D-86E7-8C33F12F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9050">
            <a:solidFill>
              <a:srgbClr val="F45B1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1A700-E712-41C8-A866-0C935689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1162F2-865B-4129-BB06-A4CD7963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F27F52-FA38-4A79-9618-9859DB01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897695-BFE6-4C80-867F-5051A72F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Add Service Images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FE735E-4CF5-4FD6-A91F-C2FC70ED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AACB86-E6C3-43D0-8CAD-3D8425A8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9DEEA4-BFDA-455F-9759-046301BE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4C892E-478E-4E98-93BF-8D5E0C08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160F2A-E123-48E7-B194-542161E5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Submit the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B04A70-9079-4D65-BB3C-BCC08EF7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D"/>
          </a:solidFill>
          <a:ln xmlns:a="http://schemas.openxmlformats.org/drawingml/2006/main" w="19050">
            <a:solidFill>
              <a:srgbClr val="08BF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E83A15-4C3B-4280-A7A4-318429A3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+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E2E660-DCCF-4096-BA95-48AC2D41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5F03AA-1724-4D39-8250-F6738BFA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F0909F-FCBD-4810-9C4A-366F0205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Receive Review Bonus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1EDB12-76F8-4C95-A023-E350BCD4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E9DEE2-D5DF-448C-96B5-2A247910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◷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45C6EE-9E43-4BC2-9DC7-0046719A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C2D34D-2238-4A57-BEE3-C084CBE5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333D7B-F766-451E-A618-1FA2042B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View Booking History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D80579-6D22-43DD-A932-50E64BFB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DFB"/>
          </a:solidFill>
          <a:ln xmlns:a="http://schemas.openxmlformats.org/drawingml/2006/main" w="19050">
            <a:solidFill>
              <a:srgbClr val="8613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76B3C9-59AA-4549-9071-55F63495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↻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62C2B9-B606-4E61-AA02-CEEB114A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953D80-9E86-4D57-AB81-A3B68C40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DE5573-DD8E-49E3-8D96-5A7A35E2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Return for the Next Service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CA6C52-6B5F-438D-AF0F-5CA11575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8D0052-C976-4B18-85D9-D62A5F91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Share the service experience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0C578C-A9C1-4312-9CD0-E7E8CC3D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54369A-772F-4090-A8E2-39A76886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Provide useful feedback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1BD64F-1959-4623-9729-FBEAFE1E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74E4A1-5544-46AA-8C17-7728EC45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Add optional evidence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5BD4DC-6912-487A-B690-FCD8D768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114300" cy="1381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EBC314D-9A98-459E-A3B5-382292FE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Validate the review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49D6DB-2CE5-4E6D-8D85-46A36ED7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5D12C5-028E-4994-8918-117E5DDE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Reward participation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049F8F-6377-49AD-A7A4-BCAD4DDA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84D230-5391-4FEB-A157-EA6C7713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Keep service records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5C7ECD3-7898-46F2-BCB3-9617DB2D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1CCC43-B146-43F8-B321-4714BA44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Support customer retention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2494345-C774-40B0-A880-B65C9AEC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5905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B6904D2-844F-47DD-9060-83C96FF6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1809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REVIEW RULE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F471E8F-797A-4EA0-9DC8-CB98920F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48325"/>
            <a:ext cx="8458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Only a completed booking can be reviewed, and each booking receives no more than one customer review.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D1B1BC8-D624-4B15-A9A2-6704A28D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86450"/>
            <a:ext cx="84582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Review details help identify the assigned staff and improve service quality over time.</a:t>
            </a:r>
          </a:p>
        </p:txBody>
      </p:sp>
    </p:spTree>
    <p:extLst>
      <p:ext uri="{BB962C8B-B14F-4D97-AF65-F5344CB8AC3E}">
        <p14:creationId xmlns:p14="http://schemas.microsoft.com/office/powerpoint/2010/main" val="561215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D9C25A9-B3B0-436C-A36D-01F77A7C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357D5-062A-4077-A36D-157F3545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8D039-A880-431D-A011-730E747A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7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C33FC-1D5B-4F06-8F7E-E2EFF961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"/>
            <a:ext cx="12954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C1E20-F3C5-4759-9731-D61A15D8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15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AB3D0-269C-4401-BDB0-BFEDC7E5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4825"/>
            <a:ext cx="7715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1913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Scenario 7: Management &amp; Reporting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13C3B-7E32-4805-811A-CFF0276B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2975"/>
            <a:ext cx="9906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40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Give administrators one place to monitor operations, maintain business data and evaluate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311A5-1D52-49D7-815F-F47F4861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D"/>
          </a:solidFill>
          <a:ln xmlns:a="http://schemas.openxmlformats.org/drawingml/2006/main" w="19050">
            <a:solidFill>
              <a:srgbClr val="08BF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22458-D178-4C90-AD97-FBF344B9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BFD5A-76F0-4B46-B6FD-DF281B36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D9909-B658-4BC4-93BA-6FD5227B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A1B4B-F5DD-4FA6-A5CF-BA96BF80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Open the 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08D72-3A4C-48F0-BA01-60AB8990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014EE-6D15-4E8C-AB1A-7A225031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CF362-D309-4B95-B2FF-10F2423C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7784F-B2F8-4A6A-B7E7-3E82025F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07AAE-9722-4045-B0E4-A783A14C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Manage Bookings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C56EA-DEDE-4B5B-AE3A-2332A2BA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DFB"/>
          </a:solidFill>
          <a:ln xmlns:a="http://schemas.openxmlformats.org/drawingml/2006/main" w="19050">
            <a:solidFill>
              <a:srgbClr val="861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9A5B4-87AF-42EE-A687-927D7B76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48C31-2F1F-4593-906C-9EEA9E04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97F020-C2A7-4D13-B8D3-62F68046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C6E0B-3FA3-4EA8-A8ED-1AAC4FED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Manage Accounts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892A61-881F-4CEB-8AFA-9875538C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95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9050">
            <a:solidFill>
              <a:srgbClr val="F45B1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3421A2-8547-4090-BB8C-407A53DA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81175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86C298-22E9-4BA1-B35C-F2FF5E3D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19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E56FD8-6C96-492B-8964-11DCC03F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47825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B7F7B7-E852-4C19-9A53-33D2DA26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Manage Services &amp; Packages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C4BAFA-6331-43FD-86F2-9060B1D1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4D4636-87A4-43D1-919C-61C633A6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49BADA-2832-49DA-AFA7-8902515C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D80666-8A04-4F3C-8F65-A7E82107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D29285-ACF7-4E7F-B159-7FA49266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Manage Promotions &amp; Tiers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388FE7-A66B-43C3-8AE0-F3198181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D"/>
          </a:solidFill>
          <a:ln xmlns:a="http://schemas.openxmlformats.org/drawingml/2006/main" w="19050">
            <a:solidFill>
              <a:srgbClr val="08BF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F9DC2F-F70A-4430-8D6B-3006B589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9DDD57-36F4-4553-BBF6-D22A651D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24E56A-C0FB-4EF8-A5F7-ED383BAA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698371-7762-4199-B310-48E2022E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Monitor Staff &amp; Operations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74D78B-1FCA-48D0-A15A-3075E548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B5B0AB-11A3-49F4-ACB5-86BF5B49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✦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F7725F-3A25-464A-A14C-CB337A5D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F39D60-233A-4FB9-B9D4-27576A8E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FAF2A6-7B88-4D2B-9F6A-2D589D26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Review Feedback &amp; Content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EFDDC7-A0E3-4167-8370-5A199B41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DFB"/>
          </a:solidFill>
          <a:ln xmlns:a="http://schemas.openxmlformats.org/drawingml/2006/main" w="19050">
            <a:solidFill>
              <a:srgbClr val="8613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313400-5374-43E5-AD04-FFE980A2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6096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400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4A089D-F10C-4F01-B2B7-DA91DAB6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814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24723C-BE9D-4C63-8ED6-060C17EE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10000"/>
            <a:ext cx="200025" cy="200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31D788-4309-4BB8-BE2E-1A164C73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638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03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View Reports &amp; Performance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652184-6B5F-4A1B-98B6-C2B2F7E7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6DDCA0-1781-4835-A0E0-C06E1316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Track the latest activity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0AC580-1DB6-4E66-B03D-09C25E70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F4851B-9E25-44CD-B893-DFE14B2A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Maintain customer records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5D52CC-9A29-474D-A4D9-A9308FB0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38350"/>
            <a:ext cx="1790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CCFF37-C110-4010-9A09-591F5790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666875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Update the service catalog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A698C9-27AC-4D5C-98CA-69D458B7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114300" cy="1381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5C2A77-37AC-4DE1-980A-E5C2110B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Control customer offers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B97D28-BEE7-4426-AFA6-FE4EFD49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18B667-9DAF-4B95-A366-C4C95E85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Coordinate daily work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F62FD74-BFFF-40EA-8281-03B8E8A2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A70592D-902A-415E-9875-4D8C1A84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Monitor service quality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3564B49-66A1-4D28-8AA2-8DC1F21E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200525"/>
            <a:ext cx="17907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28CC7C6-3039-405C-A57E-AEA27292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8290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68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Support business decisions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5B1244-66E5-4742-9D20-BDBA99AB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5905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CA71B8-457A-4E41-953F-7EB5CE66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1809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MANAGEMENT VIEW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253F80-5797-4462-B745-FAB160D5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48325"/>
            <a:ext cx="8458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690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Reports summarize bookings, revenue, service progress, staff performance, customer tiers, promotions and reviews.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C0B4082-2073-46C5-9D6D-7AAC85AC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86450"/>
            <a:ext cx="84582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Search and filters help administrators find records before reviewing or updating them.</a:t>
            </a:r>
          </a:p>
        </p:txBody>
      </p:sp>
    </p:spTree>
    <p:extLst>
      <p:ext uri="{BB962C8B-B14F-4D97-AF65-F5344CB8AC3E}">
        <p14:creationId xmlns:p14="http://schemas.microsoft.com/office/powerpoint/2010/main" val="1268323115"/>
      </p:ext>
    </p:extLst>
  </p:cSld>
</p:sld>
</file>

<file path=ppt/theme/theme1.xml><?xml version="1.0" encoding="utf-8"?>
<a:theme xmlns:a="http://schemas.openxmlformats.org/drawingml/2006/main" name="ChatGPT">
  <a:themeElements>
    <a:clrScheme name="Aura Functional Flows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45B13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Functional Flow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2026-07-27T09:48:31.6370000Z</dcterms:created>
  <dcterms:modified xsi:type="dcterms:W3CDTF">2026-07-27T09:48:31.6380000Z</dcterms:modified>
</coreProperties>
</file>