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3ed5b01ca94024" /><Relationship Type="http://schemas.openxmlformats.org/officeDocument/2006/relationships/extended-properties" Target="/docProps/app.xml" Id="Rb55e7f76f7364c5e" /><Relationship Type="http://schemas.openxmlformats.org/officeDocument/2006/relationships/officeDocument" Target="/ppt/presentation.xml" Id="R2825ccfed22d41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d2747894ea49d5"/>
  </p:sldMasterIdLst>
  <p:notesMasterIdLst>
    <p:notesMasterId xmlns:r="http://schemas.openxmlformats.org/officeDocument/2006/relationships" r:id="Rb01acedb5df940b8"/>
  </p:notesMasterIdLst>
  <p:sldIdLst>
    <p:sldId xmlns:r="http://schemas.openxmlformats.org/officeDocument/2006/relationships" id="256" r:id="R8a8de5cec51a472a"/>
    <p:sldId xmlns:r="http://schemas.openxmlformats.org/officeDocument/2006/relationships" id="257" r:id="R16047a6627234b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0ff704af3d43d2" /><Relationship Type="http://schemas.openxmlformats.org/officeDocument/2006/relationships/slideMaster" Target="/ppt/slideMasters/slideMaster1.xml" Id="R16d2747894ea49d5" /><Relationship Type="http://schemas.openxmlformats.org/officeDocument/2006/relationships/notesMaster" Target="/ppt/notesMasters/notesMaster1.xml" Id="Rb01acedb5df940b8" /><Relationship Type="http://schemas.openxmlformats.org/officeDocument/2006/relationships/presProps" Target="/ppt/presProps.xml" Id="R9dcc44ec71654326" /><Relationship Type="http://schemas.openxmlformats.org/officeDocument/2006/relationships/tableStyles" Target="/ppt/tableStyles.xml" Id="Rc480562ffbab40a3" /><Relationship Type="http://schemas.openxmlformats.org/officeDocument/2006/relationships/slide" Target="/ppt/slides/slide1.xml" Id="R8a8de5cec51a472a" /><Relationship Type="http://schemas.openxmlformats.org/officeDocument/2006/relationships/slide" Target="/ppt/slides/slide2.xml" Id="R16047a6627234b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cae3dc1d204e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ura Architectur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613B8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Architectur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7e80b687a74206" /><Relationship Type="http://schemas.openxmlformats.org/officeDocument/2006/relationships/notesMaster" Target="/ppt/notesMasters/notesMaster1.xml" Id="Rfe8a56656a9b4e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d0e65acdd54c14" /><Relationship Type="http://schemas.openxmlformats.org/officeDocument/2006/relationships/notesMaster" Target="/ppt/notesMasters/notesMaster1.xml" Id="R34188de09b8b45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6926d0668b43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d698079d704221" /><Relationship Type="http://schemas.openxmlformats.org/officeDocument/2006/relationships/slideLayout" Target="/ppt/slideLayouts/slideLayout1.xml" Id="R508100279c7443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8100279c7443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ura Architectur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613B8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Architectur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e9431b2ab4769" /><Relationship Type="http://schemas.openxmlformats.org/officeDocument/2006/relationships/notesSlide" Target="/ppt/notesSlides/notesSlide1.xml" Id="R2a5d6088f2114d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36ae95eda4327" /><Relationship Type="http://schemas.openxmlformats.org/officeDocument/2006/relationships/notesSlide" Target="/ppt/notesSlides/notesSlide2.xml" Id="R8ace47dae2764b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1E65C66-A9FA-4939-9B7F-A752B983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114300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6F6E3-80DB-49D3-BDBE-64F6F38D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7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A82B0-BA79-4066-A96E-DFBEC4B6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8858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250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AutoWash Platform | Logical 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52DC5-0A7A-4FEC-A02B-4F2C984C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2975"/>
            <a:ext cx="9620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938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Role-based web application built as a Spring Boot modular monolith with transactional persistence and managed external integrations.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39A9C-368C-4BA2-8116-DFB74949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42925"/>
            <a:ext cx="1200150" cy="266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2E6E1-684A-4F0B-8165-63130339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0550"/>
            <a:ext cx="10668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REPOSITORY-ALIGNED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95184-9E86-4334-8703-71F2E4E7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2857500" cy="285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8BFD3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B9383-427C-4307-BD6A-22F9FD53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2705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CHANNELS &amp;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9CF6E-D218-47E9-B88F-C24CEB62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28575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BFD"/>
          </a:solidFill>
          <a:ln xmlns:a="http://schemas.openxmlformats.org/drawingml/2006/main" w="13335">
            <a:solidFill>
              <a:srgbClr val="08BF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74D61-7352-469A-B929-C8492569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381125"/>
            <a:ext cx="4648200" cy="285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8613B8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3AA8A-8A00-436F-825F-E155B0AC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428750"/>
            <a:ext cx="4495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APPLICATION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FCDA2-6EB7-4C92-A700-01376DB5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43075"/>
            <a:ext cx="46482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FB"/>
          </a:solidFill>
          <a:ln xmlns:a="http://schemas.openxmlformats.org/drawingml/2006/main" w="13335">
            <a:solidFill>
              <a:srgbClr val="8613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4AF0E-A7AD-4D61-BCEF-1F59A348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381125"/>
            <a:ext cx="2667000" cy="285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EAEC9-E902-4707-95FF-BBFA2996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5146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DATA &amp; INTEGRATIONS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E801C-9CC5-40C5-AA2C-82804ECE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43075"/>
            <a:ext cx="26670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8D9F3-E596-4352-82D3-E7F423A1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7429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Actors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509D5-B1D0-4835-B68E-847E0825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876300" cy="4000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1D992-F094-4B4F-8DE8-2226E4A4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002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023B5-AD23-4D12-9453-86652681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81225"/>
            <a:ext cx="428625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0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Customer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51658-1D9D-400F-93A3-9F041BB8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876300" cy="4000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BBECE-3CF5-4238-8824-B02567A2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527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7FD594-FDEF-45E5-A1D4-AF4DB19F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33675"/>
            <a:ext cx="428625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0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Staff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0A5F9-427A-49A2-B58D-31A7C861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876300" cy="4000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B2370C-15DC-45F6-883D-F304047C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305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F84EC-E742-4745-9C5E-D4FC854E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428625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0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Manager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43E521-8292-44BC-B94E-63B01BA6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876300" cy="4000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2E6DE7-7512-4769-B040-EF5CCCA7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857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6F7F21-B672-40E4-820A-7FA15745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38575"/>
            <a:ext cx="428625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0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Admin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20ACA8-F069-42B2-88E0-8A2EF410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857375"/>
            <a:ext cx="1409700" cy="306705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BFD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FB4D9C-83CB-4536-980D-0FF3558E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9775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NEXT.JS 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9EB43D-1834-45A5-8734-D4194015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66950"/>
            <a:ext cx="1143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90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React 18 + TypeScript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0F23A4-E199-4D6A-8D1C-D6A9F6FB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28900"/>
            <a:ext cx="1104900" cy="3238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9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A0E9F9-D4FE-4089-9A1B-716E01EC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05100"/>
            <a:ext cx="9906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Customer Workspace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28D3FE-DD2C-4A5F-AFF1-99B5DD2A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86100"/>
            <a:ext cx="1104900" cy="3238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9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88F8CB-6769-4B32-9C81-C6B035B2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62300"/>
            <a:ext cx="9906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Staff Workspace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052A99-893E-423C-928F-4FF74587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43300"/>
            <a:ext cx="1104900" cy="3238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9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14632D-2012-4244-A787-476E7817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19500"/>
            <a:ext cx="9906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Manager Workspace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37E94D-99A7-46FA-AD9E-7E179853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000500"/>
            <a:ext cx="1104900" cy="3238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9FBFD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CB2DB2-F12A-4DB5-8EF2-612D5F41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76700"/>
            <a:ext cx="9906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65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Admin Workspace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9FD2BF-61C3-4EEA-9C06-3B0A2DD1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33900"/>
            <a:ext cx="1143000" cy="2952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Axios + React Query</a:t>
            </a:r>
          </a:p>
          <a:p xmlns:a="http://schemas.openxmlformats.org/drawingml/2006/main">
            <a:pPr algn="ctr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Zustand | STOMP + SockJS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C0CACA-D206-4965-A9D0-C7F0E084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41719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SPRING BOOT 3 / JAVA 21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CE7AD5-DF9C-4A0F-86D4-3B42B511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66925"/>
            <a:ext cx="41719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60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Spring Security + JWT  |  REST API  |  WebSocket /ws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E09E72-CEC1-4F18-9D5F-22B111FD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52675"/>
            <a:ext cx="19431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8613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361BDA-397A-44AA-8260-2270C4F8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19350"/>
            <a:ext cx="17526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Auth &amp; User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50CA56-68D6-4AD7-92C7-1EC9E522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9850"/>
            <a:ext cx="17526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Login, OTP, profile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0BB302-9D27-4F48-A7CF-79A846B4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2675"/>
            <a:ext cx="19431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8613B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9C8A5E-4893-46A6-8C01-03395998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17526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Catalog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96043F-52A6-4DE9-AD5D-D7650FE7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17526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Service, package, combo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9660F4-4102-4B6B-9892-2D599ACF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24175"/>
            <a:ext cx="19431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8613B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24F13C-13DC-4C10-AA97-F30F9F48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90850"/>
            <a:ext cx="17526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Vehicle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8FFD4D-E603-4CD5-A59C-5A2DB0E5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81350"/>
            <a:ext cx="17526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CRUD and primary vehicle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098ACA-8211-4345-87E7-80B4C0DC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19431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8613B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8C90E5-5EB5-491C-B0CF-FB73AA99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90850"/>
            <a:ext cx="17526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Booking &amp; Slot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0FA95E-51EB-4313-8CC8-5D7B208B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17526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Hold, capacity, voucher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23087C-2C88-4E55-978D-ABC1CB6C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95675"/>
            <a:ext cx="19431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8613B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1EFE10-603D-4B6B-A7A2-C3B02E03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62350"/>
            <a:ext cx="17526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Payment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D3628D-2A58-456E-96CE-44158133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52850"/>
            <a:ext cx="17526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SePay and VNPay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BEDD69-8112-4B4D-9957-3C31EA91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19431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8613B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FF7350-1A58-4726-A26E-B2717F64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17526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Staff Assignment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52E712C-C947-4A5B-AD8E-76AD85B8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17526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Availability and workload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D5DA95-B083-4AD4-8036-6C0C2491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67175"/>
            <a:ext cx="19431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8613B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F02CE2-328B-4BAF-BAF2-E5E6D883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33850"/>
            <a:ext cx="17526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Operations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3D5DCAF-BE46-4323-BF41-106D0B9A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24350"/>
            <a:ext cx="17526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Wash-session lifecycle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4B7A14-F143-4E6B-AFFE-4888AC38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19431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8613B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4672E16-E5A9-41B5-8CA8-2AD67831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3850"/>
            <a:ext cx="17526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Loyalty &amp; Review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B39F44-AFD2-48E1-8A2B-051C95C3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17526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Points, tier, rating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5D9311-2D86-4F18-B1C1-8DD5A7BA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38675"/>
            <a:ext cx="19431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8613B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CF31846-05DC-4048-A264-694C37C2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05350"/>
            <a:ext cx="17526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Notification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725FB1B-18EB-4B9B-B325-35BCB845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95850"/>
            <a:ext cx="17526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Customer messages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725B3E0-2F49-45E4-9EA0-138BA522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38675"/>
            <a:ext cx="1943100" cy="457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8613B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A92B13E-3E52-481D-9742-E74EB93C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17526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Reports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077E035-7C99-43F3-9A13-A5655C04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17526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Admin and manager KPI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4016222-0CFB-4A6B-8A24-961650F0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05425"/>
            <a:ext cx="3943350" cy="4000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2237D41-2199-48B0-835A-DCA88BA6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72100"/>
            <a:ext cx="36766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Domain events + WebSocket publisher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A7EA241-FF64-4F23-BEE0-2866BA97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34025"/>
            <a:ext cx="367665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58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BOOKING_UPDATE and WASH_SESSION_UPDATE -&gt; /topic/bookings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A0E27F7-EADD-4087-8632-600C4AB2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85950"/>
            <a:ext cx="2209800" cy="5905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A34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DA643AE-1DAD-4113-87DE-77F079EA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52625"/>
            <a:ext cx="20193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PostgreSQL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6D1FDB3-5197-4B06-994A-7DA4CCC3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20193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Spring Data JPA + Flyway</a:t>
            </a:r>
          </a:p>
          <a:p xmlns:a="http://schemas.openxmlformats.org/drawingml/2006/main">
            <a:pPr algn="l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Transactional system of record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24921D2-0F1A-4A1C-B9DA-90C20F83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38425"/>
            <a:ext cx="2209800" cy="476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FF5A1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2441F09-955D-4C24-993B-18055022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05100"/>
            <a:ext cx="20193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SePay + VietQR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05026C0-4FD5-48A7-A94C-22ABD2ED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0193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QR payment + signed webhook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6892CDC-309F-4715-AF6E-A141383B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38500"/>
            <a:ext cx="2209800" cy="476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FF5A1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DB4C7D0-2CFC-42F6-B9BE-396A594F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05175"/>
            <a:ext cx="20193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VNPay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DD019E5-73CC-4BE9-B2BB-2D610222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95675"/>
            <a:ext cx="20193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Checkout + return/IPN/query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F567FAD-3558-4B6E-8733-548FBB35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38575"/>
            <a:ext cx="2209800" cy="476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2563EB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D396A8B-1768-430D-B70B-D660BF0E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05250"/>
            <a:ext cx="20193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Resend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A53C3AD-4690-4013-B313-2B50172F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95750"/>
            <a:ext cx="20193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OTP and password-reset email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3C2C68C-40B2-430F-932B-3ECE8C8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38650"/>
            <a:ext cx="2209800" cy="476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A34A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806037D-5CF5-4B29-A713-FB1CB2C8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05325"/>
            <a:ext cx="20193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AWS S3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4F6B965-5A26-45AC-888C-BB60F359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95825"/>
            <a:ext cx="20193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Avatar and review-image storage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1405863-4E59-4BD5-8920-56D1AB5C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38725"/>
            <a:ext cx="2209800" cy="476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8613B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27B30E7-5DC6-4044-A5F3-BCA33E89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05400"/>
            <a:ext cx="2019300" cy="1809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WebSocket Clients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E261C17-D8CF-407D-81C2-C686A54E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95900"/>
            <a:ext cx="20193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Role dashboards subscribe to events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ED512ED-995E-4D5E-BB7B-A06CDF3B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48125"/>
            <a:ext cx="3238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F7C2284-7F80-4F1A-8A97-3BE6C361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57625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85733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660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UI action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8854A0F-38BE-4992-869E-91D49612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2386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E956F19-ABD0-4683-BAA9-0850F0D1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2386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C185F28-79D0-49C2-BF64-A2209FD5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91000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5DD4119-8974-453E-9B23-3CFD24F2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76725"/>
            <a:ext cx="32385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60708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07086"/>
                </a:solidFill>
                <a:latin typeface="Poppins"/>
                <a:ea typeface="Poppins"/>
                <a:cs typeface="Poppins"/>
              </a:rPr>
              <a:t>UI state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9390C87-01AE-4C79-A264-AFB10642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24225"/>
            <a:ext cx="6096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98639A7-50C5-4EB7-9F3E-0CDF2C0C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33725"/>
            <a:ext cx="6096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660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REST/JSON + JWT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3E4898A-16AF-4500-A249-EC6CC5F5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147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A405F1B-A91E-4B32-8416-17DC1EB4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147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BB8BB56-3542-4F0D-91C1-964BE8EF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147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BFF4E77-AB81-4428-A31B-C34CE5D7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147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8EAE72A-08B9-41E5-A2EA-D4433657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147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E7C50DB-CF01-4041-B670-5E197836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67100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87AA8BC-9FCB-46E0-A983-FE3D0205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52825"/>
            <a:ext cx="6096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88713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60708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07086"/>
                </a:solidFill>
                <a:latin typeface="Poppins"/>
                <a:ea typeface="Poppins"/>
                <a:cs typeface="Poppins"/>
              </a:rPr>
              <a:t>DTO / HTTP status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4448C58-AF41-4145-A87D-95321F09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52650"/>
            <a:ext cx="581025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1AB25D3-6921-4062-BFA4-97C6ABDF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62150"/>
            <a:ext cx="581025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66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JPA transaction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D44C965-9F0E-40CE-9B59-4012E445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43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088EF34-8620-446D-A392-82D5EE8D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43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DA21B26-9F6D-45C8-A6C5-23DFB7B0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343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11530EA-AC31-4ACB-B16D-0FB66D7A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43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46E9407-7576-4203-A7F6-E8296EA6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95525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6E7DECC-14D9-4B8D-9D2E-85EB7909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581025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60708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07086"/>
                </a:solidFill>
                <a:latin typeface="Poppins"/>
                <a:ea typeface="Poppins"/>
                <a:cs typeface="Poppins"/>
              </a:rPr>
              <a:t>Entities / result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CF41F46-0E91-482E-8F09-16C2D9CB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76550"/>
            <a:ext cx="581025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601430C-AA55-4AED-A03B-D5E29BD8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86050"/>
            <a:ext cx="581025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F5A1F"/>
                </a:solidFill>
                <a:latin typeface="Poppins"/>
                <a:ea typeface="Poppins"/>
                <a:cs typeface="Poppins"/>
              </a:defRPr>
            </a:pPr>
            <a:r>
              <a:rPr sz="660" b="1">
                <a:solidFill>
                  <a:srgbClr val="FF5A1F"/>
                </a:solidFill>
                <a:latin typeface="Poppins"/>
                <a:ea typeface="Poppins"/>
                <a:cs typeface="Poppins"/>
              </a:rPr>
              <a:t>Payment request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C4AACA4-EA76-49FA-9039-E354EB08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670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2967A48-5F46-4C08-A288-369E47FE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670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4C466BF-5AC0-42D9-BCC2-1289B6C5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670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979CAB1-E37B-4AC3-90B7-39741890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670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942FEEB-87EA-48C8-A970-D2FFB58C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19425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CA4C7C5-0AC0-452C-8258-BAAEA9B5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581025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87469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60708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07086"/>
                </a:solidFill>
                <a:latin typeface="Poppins"/>
                <a:ea typeface="Poppins"/>
                <a:cs typeface="Poppins"/>
              </a:rPr>
              <a:t>Webhook / result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80FB427-7BD4-43F9-86C8-03D3D4B6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67175"/>
            <a:ext cx="581025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9A86D1A-1525-4FBC-BB33-894215AB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76675"/>
            <a:ext cx="581025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98994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660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Email request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2BFF292-EC99-4F28-9D22-3BC9749E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2576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0E134E9-DB57-4DB9-8D13-DB944557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2576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54D17CA-BB88-4B34-8295-CD9930B2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2576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94CA806-9935-49B4-9BEC-F5ED43C5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576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E68705F-C6CD-4507-AA0C-0DC3FE72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10050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02286FB-A870-4FA7-82A8-7386E4A7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95775"/>
            <a:ext cx="581025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60708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07086"/>
                </a:solidFill>
                <a:latin typeface="Poppins"/>
                <a:ea typeface="Poppins"/>
                <a:cs typeface="Poppins"/>
              </a:rPr>
              <a:t>Delivery result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35C5B1F-9522-429E-87A3-53AA60B8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76775"/>
            <a:ext cx="581025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B2319A3-2F39-428E-855E-9D4E09D6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86275"/>
            <a:ext cx="581025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96108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66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Object upload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8583E83-C27E-4F6F-A474-86C2F448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672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CEE981F-FBD2-4042-A20B-CEC91E74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8672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794DD54-F7D9-4A97-9401-90FCDEA6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8672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BECB881-84E1-4F51-AA7F-9E8024E2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672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1CFE44F-C293-49C5-9ADF-C6079539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5E627D4-E2A1-426E-AE7A-DEF86CA2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05375"/>
            <a:ext cx="581025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60708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07086"/>
                </a:solidFill>
                <a:latin typeface="Poppins"/>
                <a:ea typeface="Poppins"/>
                <a:cs typeface="Poppins"/>
              </a:rPr>
              <a:t>Object URL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1E2581D-A68B-462E-92CA-CC848D76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5692D1C-99F9-493D-B507-181EA9A8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BDC11D6-A0EB-4860-A69C-F827E4E7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48DA0CB-4859-4ACD-BD63-6C00A061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36F49A5-C46B-48C3-9CFE-29FB8A8F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ECCB3AB-7854-418C-8B33-264CE6F4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44BB159-E6CE-4D70-AAF3-B8343C37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AE6701C-518A-4A52-8506-4EF9A099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D681E35-FEE2-48C8-9C93-3129423D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4B9D3EE-E5AA-4647-A144-432109FD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81A76AE-814A-4920-A390-436CC7DF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8836DE4-E48D-4C4B-A23C-D6BA7799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BBD62C9-5A3A-40A1-B7ED-C35C3DAA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4AF15A2-6E21-4A40-A964-DEE760BF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DBB8EBF-3EAE-4666-9FF2-13113562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63ABB3B-07C3-4719-A3DE-3A7D49C4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9781A3C-689B-409F-A220-6F52F859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470F6BE-FF64-4987-8AA6-8BDB296C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595B2D5E-12BF-403C-B993-F4C6A6DB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4DCF57C-4A1C-40E7-A6DF-1E904C0C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BAF6D4D-E26B-4D26-AB38-F5EE8200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C868490-41DA-4514-A7FC-3512708E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C851E60-F21C-46C1-821D-71D75ACB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C677A96-5E37-4372-8E8B-BA853429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0C3327D-B805-454D-A727-9E6B7FD0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0E7B69D-70A8-4AAE-AF18-02CA6050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83A613F-6DCD-4E89-AE34-1C7F86B3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A6140A8-28DB-447A-83A4-DE505B67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269E29C-3C6C-41CD-833A-6063A3D0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7E5036D-B4BF-4129-A8F7-9434DD24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795A2C0-AAC8-4F56-B486-9EEBD66E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A42D5CD-FF9F-4A9E-A48A-631BA855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3065C32-EA1E-4902-873E-280A2EC9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0828E95-CC15-4A00-8688-2B10B3C5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4A8FE9F8-D378-4B11-9A3F-331F26F1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C7487D69-0B62-4FF6-B9DF-F2753FDE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08A81A5-1E12-44B3-BDFB-759BA5F4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DEBE9E2-10BB-42B3-BAF8-86B091E5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7810A5B7-706A-487C-B202-A8957ED4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BFBC6778-A823-4F2F-8F32-C186F5CD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AD91698-1D2E-4BC3-BCAA-E8FD1382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7392A05-EFDC-48B6-ADAB-4FFF285E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0AEF9A7-39DC-4329-85A9-C0FD74BD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3BBE05E-C025-4883-BD0A-19681D35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BAFF14D-C851-44A0-B191-10CCE8F9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524A4965-CBD1-484C-A1F3-622AA26F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9143CD1-0F84-47EC-A282-9F31A34C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74357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BE8C6BF-2ADD-4D08-ADCC-6731CD80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7435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AAB04A1-9E66-4DE3-9CBA-F10F1F19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695950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9F8E3E3-331B-4D4C-AD0D-D2E2D858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781675"/>
            <a:ext cx="55245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Realtime event: /topic/bookings -&gt; invalidate React Query caches; polling remains fallback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A1421A3-02BF-4DF3-AE2F-E595FE28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381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785D6B7-72DD-429B-8722-93B0E173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00775"/>
            <a:ext cx="13716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7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Request / command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847939F1-CD85-4F91-8DD4-B8A82EBA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3246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10371823-106C-49A0-B092-54FB5405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3246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654D19B-62C9-4309-A8AE-8B43DC09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3246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8A066CC4-2A6D-4870-9DBF-818A2204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276975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9B54194A-A05D-4E7B-8710-AF16BF4D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200775"/>
            <a:ext cx="20478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7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Response / callback / event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92AA9DC1-AB22-47FF-9ACA-E7F9A072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200775"/>
            <a:ext cx="4095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7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Next.js 14 | Spring Boot 3 / Java 21 | PostgreSQL</a:t>
            </a:r>
          </a:p>
        </p:txBody>
      </p:sp>
    </p:spTree>
    <p:extLst>
      <p:ext uri="{BB962C8B-B14F-4D97-AF65-F5344CB8AC3E}">
        <p14:creationId xmlns:p14="http://schemas.microsoft.com/office/powerpoint/2010/main" val="157968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B40C0086-2A02-4FBB-830A-524F4F76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114300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F9C1E-3DD5-41C8-95D2-8FC4405C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762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C41B7-F451-4A37-B73C-256E474C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8858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250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Runtime Communication &amp; Event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89036-D8A8-4621-B93E-2DA0F14C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2975"/>
            <a:ext cx="9620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938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Synchronous REST/JWT traffic, transactional data access, verified payment callbacks, and asynchronous dashboard updates.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9B645-CDD3-40CD-B8A7-B156E4CB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42925"/>
            <a:ext cx="1200150" cy="266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1430">
            <a:solidFill>
              <a:srgbClr val="0B12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AD7DC-49B9-4726-8450-1F397C2B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0550"/>
            <a:ext cx="10668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REPOSITORY-ALIGNED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15F78-C3B6-4398-B78D-08E3FB26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1619250" cy="285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EA42A-3561-4C82-90CE-2DCB9A2E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33525"/>
            <a:ext cx="1466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USER / STAFF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364EF-6EB9-4CCB-A127-A755BAD3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619250" cy="238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38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Browser interaction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D0EE4-0F12-4723-A622-78361938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955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D163A-C9D9-44D8-ABC5-E2EB61A5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288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225C8-3390-4D0C-9772-95CE30CF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622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6E613-0BCB-44A2-A745-5BFDC9E5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955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5BB18-CD40-43A1-9ED7-15D30740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289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58CB4-1782-4E5E-80A8-C286046D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622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046FB-26FD-448A-ACD1-5FA8180A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956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697891-DC7C-48BE-A390-F83DF32E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289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248B8-2F7B-4310-800A-78E597B0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623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36047-2C2C-4EED-AD89-E035CF3B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956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B23519-BA9B-4A17-A92A-52DBDCB1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290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C7E41B-98F6-44DB-B079-99A62075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623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E00E44-1692-41A2-B2B7-B1FA9A86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957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1F9B1-BF9D-490D-BD3F-9708C8A2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290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D2B77-C52F-48CE-A16C-363E7D8C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624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1D5924-18BB-4274-A0AF-982367E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957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8ECFDC-123C-4D31-9E9D-858879C1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291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C8ABED-D1B2-40FC-801C-5E6977B8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624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851E96-E3C5-407F-975E-1ED618EC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958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B30CF1-1107-40D4-A696-8EE15313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291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4AE692-BFFC-4134-9032-E361FC00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6EA005-27FC-4394-986F-09DFC2E6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958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49D366-7E5B-4BC0-B06B-5DBC650A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292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183DDD-C132-4234-9198-00867152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625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C1039F-6E71-45C3-ACFC-8423A91C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959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7B750B-F075-464E-B04D-07B372C9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292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D491F3-6228-42DF-A62B-CD0B0136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626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37C01D-D78E-4960-90CB-A7A8C4D5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959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8B1EA1-DE69-4EA1-956B-42635908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293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2DBDAD-00FA-44BF-85D4-AB3748CD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485900"/>
            <a:ext cx="1619250" cy="285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8BFD3"/>
          </a:solidFill>
          <a:ln xmlns:a="http://schemas.openxmlformats.org/drawingml/2006/main" w="11430">
            <a:solidFill>
              <a:srgbClr val="08BFD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D66160-B84B-489D-B3BE-664C04F1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33525"/>
            <a:ext cx="1466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NEXT.JS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52BDF1-3F8D-4857-84C6-1319F071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09750"/>
            <a:ext cx="1619250" cy="238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38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Role workspace + API client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CD580D-3CD1-403B-AF91-15AD143A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955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FBCABB-8276-43C9-8430-95329E4D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288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D4DFE6-381B-452B-94AE-D570BDD5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622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CFBB5A-A491-4975-987D-9963E176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955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4511CE-63B8-4B50-8887-64213904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289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6858B2-0497-49D6-A5ED-F9F9260B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622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4B61B0-8FC6-4EC8-BC0F-47DBBC7B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956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DA6323-693E-4709-B101-32E21900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289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7FE884-8A72-4E0E-8A84-BBE8A257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623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05DF3B-A3FE-4793-B2C7-C9AFDA2C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956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7F1452-2B70-44D8-AD53-29C30FEA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290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65C597-2875-4859-96F6-7367CAE2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623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5BBA6B-B10D-4361-BF9E-DD256A40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957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F411AB-F33A-4924-AD65-A12A0CA2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290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245920-BF3A-4BEE-8527-2D88E3F6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624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7B41BD-FCDE-49C3-B86B-C30014B6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957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1808655-04F5-4F7C-A6AE-B886717D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291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5A485B-63DF-41B5-8F87-9C171ECA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624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44F2A8-986D-480D-81DE-FC7C0184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12C1589-ABED-4DF9-BA12-1DBFD523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291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1E71A0-6E8C-4C96-B2BB-03B25351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625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8F4D925-B740-4812-8936-AA5769FD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958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966DE18-7D45-4D73-BCC0-0D483D2A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292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D0B157F-04FD-4431-B55F-C274C63E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625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1670131-AF25-47D5-B199-ED0BF4B8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2959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5D383DD-D657-458C-ADF8-677BFCEA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4292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4BD974B-CD77-4521-AEF8-C7FF2982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5626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3B3AFD-A425-4B4D-9F17-63A4210F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6959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9DB6046-8509-466D-8F47-CFFA9660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8293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C4B501-A353-42F2-8D66-6AE7B5CE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485900"/>
            <a:ext cx="1619250" cy="285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8613B8"/>
          </a:solidFill>
          <a:ln xmlns:a="http://schemas.openxmlformats.org/drawingml/2006/main" w="11430">
            <a:solidFill>
              <a:srgbClr val="8613B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769F324-13C1-44FE-8DF3-4B6C05EF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33525"/>
            <a:ext cx="1466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SPRING BOOT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26AC9E6-9663-4A24-B1EB-DC0B152D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09750"/>
            <a:ext cx="1619250" cy="238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38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Security + domain modules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461BF21-FA63-478F-909D-16AD4DE6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955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63B724A-D7F7-4350-8FDD-97560B1C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288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C17E866-D198-49F1-A5B2-FC383713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622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084D881-4CFA-4203-A4B9-FF7B5839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955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96B3C7D-D30A-4721-A76D-F2B84CEF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289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259B60C-E6F5-4F25-A89A-F7A42F31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9059CC4-B27A-44A7-A4CD-08D5465C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956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AA83E41-1CC7-4EA9-8DF3-3229679A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289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EC700B6-1BD8-4674-A1C3-C705B5EB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623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42614C1-95F1-45E2-9E83-77559408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956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0896898-DB33-446F-BCA8-AE604051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611D783-B3AE-435A-945D-AA5EC3D5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623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D317057-E1B7-45F9-9A23-19EB54D5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957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154C82-A7AD-4AFB-8AA5-573EC06F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290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1B38D25-C7FC-4F2D-90FA-41B7E195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624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5140664-25B0-400F-9F32-CCB96DDF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957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3CBB418-6700-4A4B-8DBD-98854971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291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2F0890D-D3D5-4636-8651-4342FE75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624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75AE680-9B97-4EFD-9724-A4430B54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958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A63B832-EB50-4034-9CB6-44F67296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291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3BD6AEB-3D52-4D45-9386-EBBB184F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625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076CBAF-4A75-4530-A95A-4B2A6675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958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7FD82A3-3B33-43E6-A3DA-2911E51B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292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4B4CDA1-697E-4E6A-A474-2F6FE080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625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A6D9B25-8AD7-4438-A58E-DF0CE52D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959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DED0316-A73F-4E4F-AFD3-A529C1A2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4292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5BD0F7C-8856-4522-B73D-B9663BE5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5626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E90391B-5075-41FC-B30B-7773A12D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959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92FB03B-3A60-431A-AB9E-555915C2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8293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1B99F89-9BBB-4273-AF5F-2B364DC7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85900"/>
            <a:ext cx="1619250" cy="285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61761C0-69C3-42C3-AA26-B3CF9B32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33525"/>
            <a:ext cx="1466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POSTGRESQL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DEFE554-B950-40C6-9BA0-120E011A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09750"/>
            <a:ext cx="1619250" cy="238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38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Transactional state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9305C93-C131-44C7-894A-08045646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155CBF1-91FE-4453-9C30-7AD922BA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69FB6B7-8458-4F15-BF98-17916EDB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622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A2441C0-765E-48CC-99F2-0D46B1D0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955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EEFA293-F11D-4106-85EE-C9EB33CB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289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62163BC-5750-47E9-BC12-216FD7A8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622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BACD4DB-6147-4AD3-8606-609AB403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956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EEE9A0D-DC90-4178-9F54-F356C987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289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AB32053-F8B8-4CEC-95D4-2C577EAF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623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4758151-CD67-428A-97B6-F3C538FC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956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63D8B8B-DB16-49A7-8E11-2235DF21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290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306156C-D966-4A7A-824F-CED44937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623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5C0AE6B-6345-4D2D-9014-413AC9D4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957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DF5378D-07EE-4FA9-A7B0-6B9D6C67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290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D1A2C3B-8019-460A-9F50-FC42F135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624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5865DA4-8ABF-49DB-94C7-CDF90AE2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957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5582923-86AC-4B36-8663-AD204CBE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291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3494F2C-0F76-4D6E-9B83-483E6449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624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6B05AF4-C670-45D7-B310-4CB394CA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958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56B4A53-4F3B-4D3B-A63F-8F227C1E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291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3BFB3A0-3874-4CF8-8650-596016C7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625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C6540F3-B502-40DB-89E7-83CCED82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958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FE51E15-B9CA-4291-8E1F-C0889BC4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292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E4E30C8-A983-46F9-B1A0-F7E1C487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625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D715C06-1A70-4B54-88C1-31FFDACF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959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17F1B51-C43D-4201-B17B-59519BF8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4292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AB7508A-B7D6-4AA8-A6FE-FB8B872A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5626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68A28EE-C01D-4AA8-8467-A912018F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6959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80FBDA4-3A7A-41FA-9C0B-6EDA8BB2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8293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D520C9D-2C88-4307-A136-D6EA3678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85900"/>
            <a:ext cx="1619250" cy="285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5A1F"/>
          </a:solidFill>
          <a:ln xmlns:a="http://schemas.openxmlformats.org/drawingml/2006/main" w="11430">
            <a:solidFill>
              <a:srgbClr val="FF5A1F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9593C46-7DB0-448B-B749-2171BFB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33525"/>
            <a:ext cx="14668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EXTERNAL / WS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67C39B0-C316-4B9A-B764-9B176790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1619250" cy="2381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38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Payment, email, storage, events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BFBDF7E-F5E2-48BD-AE85-EC39FD49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955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2A8B8D5-DFB0-457B-9052-57C84E0D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288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81C415E-A418-438A-9A59-95AF8682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622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BC92126-E22A-47DA-81D6-20B53FD2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955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10426C7-EB6A-4BA2-8945-098C911B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289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F29A82A-B97E-40E8-8CB3-A896F3B2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622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A43E565-C2BE-4190-877F-8D18D046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956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096FC55-E4DA-43B5-A88B-9ADA40B5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289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5ADD19C-3060-4CD4-8E2A-0F7C30CC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623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A2B33FE-BBA3-41BF-B04F-95336FD6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956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029ACC6-60DF-48BD-B556-A3CA302A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290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9E5D8CE-64E8-4A2E-9B9E-EE725C80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623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F83D0C6-231C-462C-8DC4-5FE53B45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957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4FB3847-CE91-4CE5-9C9C-91B63AEF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290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5506B9C-0F54-4BD5-A2C6-8C5F3606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624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56216C3-2149-49AA-A0FB-B905C236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957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48C2D90-A187-492C-9561-CB333657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291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41C4081-CC30-46C0-A631-9F064E41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3624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F54CCD7-D8AD-40CA-BF9B-C85249E3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958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4F6D89B-1CB5-498F-9533-125BA665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291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481CA8B-B0F3-412C-9C9B-00119D11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7625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0E26208-49C1-4CD1-A89E-A8CB859D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8958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E52465D-4B47-4A6A-869B-71C70D90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292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AAC0129-49AD-46DD-9E06-B687E307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1625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7708E0D-990D-442B-9B2B-2072A336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959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1CB48D3-8781-4BF0-98D2-C44A07D1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292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3F3C472-5C1F-444B-8926-FA874159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626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CC22E2C9-FFE4-4A2E-AC67-D75756D2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6959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8DDE69D-8A41-4C2D-9AFB-7A9E50B2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8293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822AC4E-FFE6-4186-9554-7A8AB450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05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F84F092-0793-4DD1-BC24-3F682F39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266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559AB27-9075-467C-9C40-897E42A9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71700"/>
            <a:ext cx="20002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AEDB0876-9EE6-4FD3-9C35-ACF03416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981200"/>
            <a:ext cx="2000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660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Login / catalog / vehicle action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5A20E8A-1CD8-430B-89A3-201D3C84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48F8D55-48D7-477A-AB8B-B582E6D4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10ADC0B-9705-4BED-9B40-449CCBB1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27E6AFA-1352-41B9-A6D4-63AFDEB2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01168029-44E5-48D2-AA74-931C3972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3BDF6016-93B4-4A5A-B5CF-26C37C96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BE8F1D6-11CD-493C-9893-C6B10F9E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F8D6898-0EE9-4EB2-A0C6-20D82339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3078271-7871-4446-A03F-EC570BDF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A08C4F8-69AF-406A-B384-243A09A8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01729D0-D2AE-4E12-9A56-EFDACB4F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2AF539C1-1485-494C-B2C6-4D0742F1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E00C790-0931-4A72-B33A-3758F6CB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9D4AADFA-EBCD-463B-8829-C827F88F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2BE758B-8BFC-48A5-B4D8-F1C0AFD0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170E9F0-05A4-4133-BAD9-5ABFDE00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AFD2214-CB2E-46D7-A195-9B7E9253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6220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A98DA57C-680C-4EB9-8B9E-EE8D89BE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314575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8F4E0C30-4DD5-4782-ADFC-C26BD468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400300"/>
            <a:ext cx="200025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60708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07086"/>
                </a:solidFill>
                <a:latin typeface="Poppins"/>
                <a:ea typeface="Poppins"/>
                <a:cs typeface="Poppins"/>
              </a:rPr>
              <a:t>Rendered state or validation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E6776F1-C4EB-4E34-BE5D-A165FE89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171700"/>
            <a:ext cx="20002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3CC8511-CA80-4A80-95FA-9F1AFB72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981200"/>
            <a:ext cx="2000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660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REST /api/v1/* + JWT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F9E7145-81C0-4350-BCE6-2FD033A9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94CD3580-E56A-4128-B3E1-D0A9D068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84192D1-8D98-4E85-A038-72FC8BBC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5770391-90C3-4EA0-9B47-02207D67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8190237-C218-4D4F-A6D1-352DE6C3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980CC45-C6D5-4FB6-B9AA-1F0BB905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82A196F4-56BD-43F4-B8B0-E1ADB2F6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A129F1D0-5A80-4D26-B86E-61720243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228D5EF7-3EA9-46FB-B5E5-FF39D24E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7BAE80F-0E91-4A86-A451-3C217123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B67D60B-9728-44F7-B669-4451070F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B42698C5-0FC7-48F8-8AB8-8E7B49D9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0ACC716A-7A3C-4516-B154-3289168A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03EB535A-9334-43AA-B33A-B16C77B0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6CBDDEA1-4455-4498-BF10-79EE280C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412251B-4950-4E13-9784-8691BF5D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518AC6C-EAED-4DF8-8D53-B35AEF48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36220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88AA4412-FA7D-4DF0-948C-E9594C1B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314575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20877844-3CCC-4E2D-A262-895ED363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00300"/>
            <a:ext cx="200025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60708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07086"/>
                </a:solidFill>
                <a:latin typeface="Poppins"/>
                <a:ea typeface="Poppins"/>
                <a:cs typeface="Poppins"/>
              </a:rPr>
              <a:t>DTO + HTTP status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27F3AF63-FC6E-4344-9E5E-E7D99137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171700"/>
            <a:ext cx="20002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E9B0D5A-AAC0-4789-80AA-003EE9F9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981200"/>
            <a:ext cx="2000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66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Read/write account and domain data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E926E37A-D32D-4C57-A3FB-4A9738C7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72DE80C-166E-4C30-8425-11C87934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2CC5220B-80BB-4CD9-8C5E-C521799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881C259B-EA48-4389-AE13-010F33D3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8642E00-9165-4D35-8DF9-46F0F773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C3AB8786-37C2-4C1A-9356-45C5A150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8631498C-B204-4AF5-87B1-B7FFEB2C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195388C-902B-44DA-AAC2-E0D8398C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7468789-7E8C-42A2-8F2B-6C871178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D904D73F-0DE4-4E92-8527-E7DFA599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629719EB-6C75-4864-8E70-AB7507B6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28750925-1427-4370-B8AB-30DD8ACE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1A30D11-3470-4559-9C92-50EE77D3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99845B2-B166-4C31-A291-01821DE6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47E720CB-031F-4208-BAA4-713AE7FE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C847FFB2-18DA-442F-9464-91FFEED8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362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FDFCD3D9-F9CA-4624-94D4-4C76CC8F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6220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F69FCEED-320A-40C7-8D1F-587CBAAC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314575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A43645A-B6AF-4474-88A7-797536D7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400300"/>
            <a:ext cx="200025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60708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07086"/>
                </a:solidFill>
                <a:latin typeface="Poppins"/>
                <a:ea typeface="Poppins"/>
                <a:cs typeface="Poppins"/>
              </a:rPr>
              <a:t>Committed entities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BBD4CFF-6754-4DF9-A08E-CA283697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67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42DFE97D-773A-48A6-BA5E-942D3C6B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266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C570A4BA-ECB8-4E0C-8023-EA5D7B74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33700"/>
            <a:ext cx="20002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A6502FF-A927-430F-B967-9AD8D829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43200"/>
            <a:ext cx="2000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660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Availability -&gt; hold -&gt; validate -&gt; create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F068746F-BE41-4899-B68B-A2137DE3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2EAF8C1B-E56C-4052-8EA5-222D4032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4AF9E76-1450-4BC4-9B92-544EBA31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75170F1A-67A8-410D-B821-EFCA1C6B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F7319B74-03A8-4245-B28E-9A17DF22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E110A0BC-9761-4005-9923-EE1F96C0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F420035-99A2-4486-99B2-E9F106FD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132CB8A9-8A36-42B6-A693-0FEC8EF5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7F3E44AD-3202-44B8-9F28-77295239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C075B480-792D-4755-8286-A10E2BFE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6D8219F1-BA00-4812-AF05-A319BFEF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53904D79-C293-41A9-88CA-FD52DA6A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AB3E94CC-E519-4144-9B6F-D1726D79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05F175D2-06B7-4047-AA9F-EE6A0408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9B4FF79D-3B38-4FD9-B4B8-23FA0431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1C25665-B43E-425A-925E-5AF5C295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5A571B1F-92E4-438A-B69F-893004EE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12420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71F1AB5-F2FA-45ED-AB2B-695D6243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076575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157C40D7-8F80-4BB1-9321-F48EC03C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162300"/>
            <a:ext cx="200025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60708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07086"/>
                </a:solidFill>
                <a:latin typeface="Poppins"/>
                <a:ea typeface="Poppins"/>
                <a:cs typeface="Poppins"/>
              </a:rPr>
              <a:t>PENDING booking + payment data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8C4FFA91-864B-47CB-892E-783FBF9C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933700"/>
            <a:ext cx="20002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DBF7880B-792A-4C67-85D3-57CBDB3C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743200"/>
            <a:ext cx="2000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66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Capacity check + 15-minute hold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E3453A65-33CD-494C-BC94-8D32FA0C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91520AE9-D68C-4DFE-8915-5A2878E3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385F977F-B021-4A19-826C-B051B0D7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7738474B-D9F3-4D84-A68B-8B667CDA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BF251EFF-913A-4929-9AC0-B873239F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8E24340-AE20-40EE-A175-448A393F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1E56CD13-8D64-456D-9759-4100E646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AB8AC2F-696B-4D91-A01D-F0F3B0B1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FBAC82F8-1F92-4EB7-900B-D37527E6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F256AEED-D370-44DC-AEDC-99931454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04828C07-7190-4025-B628-8EE84660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969D3FCB-B4A1-4D37-A7FC-4FA8612A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6C6B7739-0CB0-4E76-9655-B83D7A8E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9A58FE1F-39B5-46ED-B973-DF3849B1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A91D067-2FE3-477D-8E83-4F380E14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DB65A407-57F1-40CD-9815-A64E2761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124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70B71EDC-2F80-4BAA-8706-139A4A30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2420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14363B9C-D0DC-4638-A0BF-E8402FF7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076575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F41656BA-F3D2-4CE6-BDA4-86C9A2FC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62300"/>
            <a:ext cx="200025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60708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07086"/>
                </a:solidFill>
                <a:latin typeface="Poppins"/>
                <a:ea typeface="Poppins"/>
                <a:cs typeface="Poppins"/>
              </a:rPr>
              <a:t>Remaining capacity or BOOKING_SLOT_FULL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09D2F604-20DA-4863-921A-D826C586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B7E37ADE-920C-429E-8C09-676FD95C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66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A6377CDD-9AD7-44F1-B982-234FED5F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695700"/>
            <a:ext cx="40005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9C8EFCA3-991C-49D2-9FB4-BB313F3B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505200"/>
            <a:ext cx="4000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F5A1F"/>
                </a:solidFill>
                <a:latin typeface="Poppins"/>
                <a:ea typeface="Poppins"/>
                <a:cs typeface="Poppins"/>
              </a:defRPr>
            </a:pPr>
            <a:r>
              <a:rPr sz="660" b="1">
                <a:solidFill>
                  <a:srgbClr val="FF5A1F"/>
                </a:solidFill>
                <a:latin typeface="Poppins"/>
                <a:ea typeface="Poppins"/>
                <a:cs typeface="Poppins"/>
              </a:rPr>
              <a:t>SePay QR or VNPay checkout</a:t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08D88368-C992-4B06-A1B0-B557D3D8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6105F200-E560-4328-AAC8-07EBB880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8107859C-EB12-4DEF-ADC7-9B3D2CB9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FCBCC8C1-5136-4C25-9991-9A75485B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1ACC63CB-7A2F-4B95-ADF5-A192F4B8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F477D3A5-5409-4E5A-A305-B863C2ED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C7EF20A8-A038-4AA9-B14C-3878257E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77AD2B96-9CA1-4B7C-B7F9-51492342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7184352F-D103-4130-AD70-7882AE80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28E77327-BCA7-4042-905B-F517D5C3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E696E789-41EF-4FB6-8195-3211E260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BE021930-33D9-46AC-BAC6-5076306E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821FEE34-C09E-49B6-BC68-C3315A93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C7E4A5CF-35D0-4AFF-811D-FBE8D823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DA74A42E-0426-4608-B032-97B48A0D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907A0E4B-FA94-4744-AEEC-DCDEB7B4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E739A496-D7E3-449B-AC76-7EEC38B9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A678772C-F474-40F7-8509-27B5E8DC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167605EC-80D5-46DF-897A-6F0E5068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1D8C378B-A0C8-414F-A86E-63A1DC64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295EC098-9CD6-497A-ADD5-9EE97125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DC040808-B369-4586-A3FA-9937AEF5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68B66F05-F8F8-441A-834D-7EAC56AD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4E9AB42C-176B-4EBD-A46E-EA0DA5DA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4F0E43FB-DDC2-4B31-8C48-A429E287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E9055F3B-B1B9-4118-ACD0-0DD33C23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7247EC4A-9138-43A3-9EE9-101E286F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DC62A2DF-8043-4B85-ABE0-31FC8D30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406E3B52-7DCB-4CA6-8C73-E3B3B10B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560CA26C-6E94-4779-8000-46CF1028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150D886E-8D0D-44B9-A95E-01ECD0AB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8B45A360-49E0-47C5-90F3-18B6249C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0D8D102B-9CED-4D0E-8B2B-250963E6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D58E4DD3-FCC0-4129-A015-D6EC493C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886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E7B66A7D-6E9F-46BC-B523-1CBF3FDE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838575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E3DA7227-CD3B-4670-923F-C6171A1F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924300"/>
            <a:ext cx="400050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60708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07086"/>
                </a:solidFill>
                <a:latin typeface="Poppins"/>
                <a:ea typeface="Poppins"/>
                <a:cs typeface="Poppins"/>
              </a:rPr>
              <a:t>Verified callback -&gt; PAID -&gt; CONFIRMED -&gt; assign staff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F9FEF7A-2FB0-438F-B949-E8149C7A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91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A434C78D-FB70-4D80-997C-CE981E89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266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CFAB8FA5-78AA-4C08-98E9-A3E05E03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57700"/>
            <a:ext cx="20002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10E8778C-BD45-4257-BA0B-6E0DFC56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267200"/>
            <a:ext cx="2000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660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Create / queue / check-in / start / complete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FB1B7CFE-51DD-4622-86CF-C58F2931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C9B7CE3D-8B61-4705-B8DD-70CCCF62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435283F3-CC6E-44B0-ADAE-1252F98D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EB8682F4-38B6-457D-9E71-C7A64F1A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AD79D537-3233-47EE-86AA-C69E0F09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F3FBF910-650C-4745-8351-02DBAC10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EA4B1D4B-EF25-46B1-8AD7-507E2C20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F827258A-7988-43C1-8243-7A9C72D4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21031388-1287-4F22-9014-EC49AC90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1AA43AFD-21AD-487D-8D89-50D0B246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CCFC226B-337F-49BC-8163-1A62BFA9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022DE4F4-23A2-43D2-8F55-6FD8EC05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7D593F3B-93F1-4561-9A1D-07AFD62A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D966D542-E1B9-41ED-9441-BD9968F6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63A4EB7A-52E0-4024-A06F-FADC1CF2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C10CD8E6-99A4-4F46-A722-12B65B28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AF21DF9D-3714-4A1F-81C6-A404647A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64820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C0891BD3-801A-4D9C-9B77-FFDB521B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600575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F41C3329-DA46-4583-814F-C3F60F51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686300"/>
            <a:ext cx="200025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60708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07086"/>
                </a:solidFill>
                <a:latin typeface="Poppins"/>
                <a:ea typeface="Poppins"/>
                <a:cs typeface="Poppins"/>
              </a:rPr>
              <a:t>WashSession state + lifecycle validation</a:t>
            </a: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D7FB7EE2-4EA7-4F51-95CE-93FA15D2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457700"/>
            <a:ext cx="20002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2D7D062C-86C4-485F-89E0-C8C6F2DF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267200"/>
            <a:ext cx="2000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66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Persist session, booking, assignment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39E4F088-25FA-4630-85C1-2B35898B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FDD576D0-86F7-427E-84A4-A91A6866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8FF3987F-22D7-42DD-BA0A-A58513BC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1F96A474-DF35-4E33-BB50-CECF0FB8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EDA06C5A-6575-49C3-B2FB-ADC9C3E9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FCA1D097-9465-4371-B395-B1CBA879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89BE5C27-5E55-4E42-84A1-5613E1D2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EE8A0D91-EBAB-40FC-AED9-6EF8A401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6E787899-41A4-49D7-AA6C-6A0197DD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7B89A4EB-E27E-43B0-A330-D3650089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29CAF995-6226-44D9-9FEB-9EB569A7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100E07EF-408C-4D16-8AAF-CB8B3B34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4E1B1236-729E-4B52-B6E5-655FD750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1B5964EF-49A4-4B03-B995-D8BEF2EF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7B2270F9-9752-46C9-882A-37E5B2C1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D40C8970-DE9A-4D2F-A2E5-347540BB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6482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99F5D49A-1FAF-47CD-90BB-282A00EA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64820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3E5BD290-3020-4745-B015-0DDA4B2F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600575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4B4F8172-7534-45BB-A30F-A8C9E1DF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686300"/>
            <a:ext cx="200025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60708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07086"/>
                </a:solidFill>
                <a:latin typeface="Poppins"/>
                <a:ea typeface="Poppins"/>
                <a:cs typeface="Poppins"/>
              </a:rPr>
              <a:t>Committed lifecycle state</a:t>
            </a:r>
          </a:p>
        </p:txBody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8F3F4768-BED0-4A77-8930-598F97C9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65FD15BE-AAFD-46B4-B0EB-FB3DE3D2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B97A1F57-A415-4CF8-A614-996D92C0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015A4005-9B8D-424D-A02D-C3B67198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B84E4EE2-6DCB-4237-AFB9-90D0ECE2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B9EE7C6D-C093-43D4-BEBA-4A18DFE7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87916109-0201-41A7-A5E0-15E377E5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916CE081-5526-4502-87D4-AC84F22B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48BE6DFE-F8BA-4674-9C65-A5AC3602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8E7DBFCF-1E67-4BEB-BFCB-E840CCF4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680C9CF5-4B41-4C47-978A-6AAC75C5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05F53161-F786-42C1-AFB3-FEB022BB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3D8A352F-5C78-49CD-83C1-07B02B1C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4C6EAFD5-684F-4869-BB51-4E508708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601490AD-8F64-416F-A8E7-27FDEFC2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E9395D95-972A-4888-8B1B-DD2DD2DD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E7929981-3D04-4435-80F7-894BDB6F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7AA29742-0E38-438E-8FDE-C5E5AEBF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5876CE66-8560-4F38-8D3E-AEBEEAA0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544DEB6C-37F8-4D55-915D-0157EB45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A2D24A55-279B-44B6-B56D-54348FA6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6C9787B2-6B13-4567-A8B8-7F797851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DBD5FCEB-2C67-4FA4-A0D1-8E0A3E5E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B3948216-7723-4B75-81F6-3F25549B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155AC798-D72E-494A-984D-82E85792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3C0470A9-D3CE-4B81-9308-7152E7AA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D6AC3267-5F3C-47D2-92BA-556B378F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DC4FF7F0-F837-4392-B91D-48C08C6B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1FCF687C-5911-4633-BAC0-4E6D5C96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12149D93-6540-4395-8239-53526C13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D5EC862A-14E6-40E3-A9B3-C33EE751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A5E78CC7-2EA2-4331-98DF-C24C4BAC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D18AB24E-9784-4387-89E3-CAF1611C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BF35C0D3-93AC-4B47-80A9-E581C80F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B10FFEC3-8392-485A-82F9-B228462F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0D372F28-B997-462B-BEDB-B9DBBCDA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5D257B45-C0BE-4450-AE59-2BABD40D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D8B0B1B0-A8B9-46D8-AB39-D92DCB6F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D28B4D0F-9330-4086-A871-458A16D3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C96C631E-6319-4F9F-A9AF-B773220C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1D4CDBA3-6C1A-46D1-8942-44C06817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4A807E73-FB98-403C-AA05-52055D40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E4694E97-F2AB-42B4-855E-F4BE7A14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0FF8E45F-EF3B-40C4-BD53-A526BB1D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1B0F2EEC-5FC9-4184-9B00-2476ADFE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656731F5-94D1-4DEC-B47A-AE885BA0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CE8BC3F5-7CE1-4B82-86B1-FAB802D6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2FF30789-93D2-4310-B2EC-47C9C588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583AD4D8-7617-48D3-B817-83C6792E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AEB209F6-FE19-4EEB-B75A-BE7CA114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E2A2A083-210C-4003-B5B6-C093433C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01015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71CA8056-0BA4-433C-9288-37C3ACAE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01015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A0B947E2-B0BA-4512-B19F-54735FAC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962525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A3A540EA-0FFB-466B-BA83-8F7809B0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48225"/>
            <a:ext cx="3476625" cy="1428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8613B8"/>
                </a:solidFill>
                <a:latin typeface="Poppins"/>
                <a:ea typeface="Poppins"/>
                <a:cs typeface="Poppins"/>
              </a:defRPr>
            </a:pPr>
            <a:r>
              <a:rPr sz="585" b="1">
                <a:solidFill>
                  <a:srgbClr val="8613B8"/>
                </a:solidFill>
                <a:latin typeface="Poppins"/>
                <a:ea typeface="Poppins"/>
                <a:cs typeface="Poppins"/>
              </a:rPr>
              <a:t>BOOKING_UPDATE / WASH_SESSION_UPDATE -&gt; /topic/bookings</a:t>
            </a:r>
          </a:p>
        </p:txBody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51D25D61-7397-4B91-B5F8-27CEDFAA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1CA134D4-C1B1-47A1-B60B-B4A51858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62575"/>
            <a:ext cx="2667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62C2A4C7-C3F6-4CA8-A100-4C614DA7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381625"/>
            <a:ext cx="20002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3C0A9E87-8048-4AD2-B3AB-D3C85677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191125"/>
            <a:ext cx="2000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660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Tracking / review / reports query</a:t>
            </a:r>
          </a:p>
        </p:txBody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E8994E84-9B72-4779-859A-A22E855A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E75AE258-F041-40B0-A32F-A6B6D61B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2ACF9602-297D-40B2-8427-0C91AAF4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4E37709A-5B71-4385-905D-0E74545E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23A4AD64-949C-435F-8427-9E59BD87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2F03ED42-6622-48FA-B0A3-71A51591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8D11A53F-AF9A-44D7-997A-DDADCE3D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050E874A-2581-4144-A9E9-91380A0E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6372540A-02E0-42F0-A7E4-4BBF152F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00E716B1-E77C-47E9-A3F8-CBBCB562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D056B4C2-4F80-4F2D-B8D7-ED3F28C5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8FD6A6A6-B9FE-420D-9D66-AB1B950B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04E914F5-253A-4CB8-A8B4-D92C6189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A7348522-FD39-427F-8BD4-BAD5F9D1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CEDB8276-3AC4-4DB1-9AC0-496BF56E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EB9640BF-C7B9-44EC-961E-A897CD25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28935EEA-8F7D-4496-884A-44D1DAEB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572125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AA33C1A2-46B2-4A20-9A78-E4FE2C25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524500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A0D41E5B-9E4B-46EF-B08F-8591C9E1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610225"/>
            <a:ext cx="200025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60708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07086"/>
                </a:solidFill>
                <a:latin typeface="Poppins"/>
                <a:ea typeface="Poppins"/>
                <a:cs typeface="Poppins"/>
              </a:rPr>
              <a:t>Progress, rating, staff KPI, revenue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7B8004FA-35DD-4E7A-83AD-38F64B99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381625"/>
            <a:ext cx="20002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A70169AF-A643-41AB-80A0-C9ECD80A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191125"/>
            <a:ext cx="2000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660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Complete: paid + points; aggregate KPI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83DABF2B-66AE-4958-A785-77467D3D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1E6B3E7D-5DF7-48D3-B92F-4866ACE7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E0FBE4D6-AFDF-4F61-B753-7C4D5FE5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7724C5B3-77EB-4491-AB47-9FB7CC8F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911CB24C-5C53-4689-992E-8F429B0D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59413D14-585A-4ECE-81A4-A19B50D7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D9F166E9-6D1C-4764-94AC-2E725A7A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08E5BF1D-C811-4F16-B8A7-4A116386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86B4E2C9-95D7-48F6-8E93-83E34231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DB48FADB-D5E5-4FB5-A087-C1AF8BD0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95393494-8D02-4F8D-A59D-8C51BA8D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8ADF17C2-F31D-4D23-B861-98A11E2E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FC7F6787-D283-423F-A377-819BE9D6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7D87E5A8-4500-4ADE-9CFC-AECC13C1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30DD4F8D-64C8-401E-BF8E-609309DB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011025D0-E703-43A5-BD06-E654B2B8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5721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8D374C31-AB2D-4467-8F78-A336D3D9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572125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548DA364-1756-4A6A-BC49-751A29C8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524500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222D08D5-BAB8-49D6-9501-AFBDA457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610225"/>
            <a:ext cx="2000250" cy="1619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607086"/>
                </a:solidFill>
                <a:latin typeface="Poppins"/>
                <a:ea typeface="Poppins"/>
                <a:cs typeface="Poppins"/>
              </a:defRPr>
            </a:pPr>
            <a:r>
              <a:rPr sz="615" b="0">
                <a:solidFill>
                  <a:srgbClr val="607086"/>
                </a:solidFill>
                <a:latin typeface="Poppins"/>
                <a:ea typeface="Poppins"/>
                <a:cs typeface="Poppins"/>
              </a:rPr>
              <a:t>Tier, loyalty history, review eligibility</a:t>
            </a:r>
          </a:p>
        </p:txBody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70D277C4-BBE0-4264-A1CD-99DF4E37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20375" cy="2667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0BC4BF71-FEDC-49F5-9ACC-88336E53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15025"/>
            <a:ext cx="10334625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334155"/>
                </a:solidFill>
                <a:latin typeface="Poppins"/>
                <a:ea typeface="Poppins"/>
                <a:cs typeface="Poppins"/>
              </a:defRPr>
            </a:pPr>
            <a:r>
              <a:rPr sz="705" b="1">
                <a:solidFill>
                  <a:srgbClr val="334155"/>
                </a:solidFill>
                <a:latin typeface="Poppins"/>
                <a:ea typeface="Poppins"/>
                <a:cs typeface="Poppins"/>
              </a:rPr>
              <a:t>Key rule: only CONFIRMED bookings enter operations; reviews require COMPLETED status and are limited to one review per booking.</a:t>
            </a:r>
          </a:p>
        </p:txBody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66EA6EEC-C4EE-486A-A5A9-885C535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3810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05E021BD-A358-4F3F-A4D9-18D64F42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00775"/>
            <a:ext cx="13716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7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Request / command</a:t>
            </a:r>
          </a:p>
        </p:txBody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92433A80-5756-4AEC-AD1D-1245DDE8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3246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CF3981B9-BB22-446C-A4C1-878EF233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324600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AC9F06C9-AA23-4C25-A83E-1900FAD8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3246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D7DB974C-16B8-42E1-BC8D-64D14B71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276975"/>
            <a:ext cx="161925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0">
            <a:solidFill>
              <a:srgbClr val="607086"/>
            </a:solidFill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F35FA2D4-39B0-4B77-8827-72D32522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200775"/>
            <a:ext cx="20478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7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Response / callback / event</a:t>
            </a:r>
          </a:p>
        </p:txBody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28C105F2-6F3F-45C5-A8BB-D116B5B2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200775"/>
            <a:ext cx="4095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36276"/>
                </a:solidFill>
                <a:latin typeface="Poppins"/>
                <a:ea typeface="Poppins"/>
                <a:cs typeface="Poppins"/>
              </a:defRPr>
            </a:pPr>
            <a:r>
              <a:rPr sz="675" b="0">
                <a:solidFill>
                  <a:srgbClr val="536276"/>
                </a:solidFill>
                <a:latin typeface="Poppins"/>
                <a:ea typeface="Poppins"/>
                <a:cs typeface="Poppins"/>
              </a:rPr>
              <a:t>Next.js 14 | Spring Boot 3 / Java 21 | PostgreSQL</a:t>
            </a:r>
          </a:p>
        </p:txBody>
      </p:sp>
    </p:spTree>
    <p:extLst>
      <p:ext uri="{BB962C8B-B14F-4D97-AF65-F5344CB8AC3E}">
        <p14:creationId xmlns:p14="http://schemas.microsoft.com/office/powerpoint/2010/main" val="641421498"/>
      </p:ext>
    </p:extLst>
  </p:cSld>
</p:sld>
</file>

<file path=ppt/theme/theme1.xml><?xml version="1.0" encoding="utf-8"?>
<a:theme xmlns:a="http://schemas.openxmlformats.org/drawingml/2006/main" name="ChatGPT">
  <a:themeElements>
    <a:clrScheme name="Aura Architectur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613B8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Architectur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2026-07-27T04:57:20.7970000Z</dcterms:created>
  <dcterms:modified xsi:type="dcterms:W3CDTF">2026-07-27T04:57:20.7970000Z</dcterms:modified>
</coreProperties>
</file>