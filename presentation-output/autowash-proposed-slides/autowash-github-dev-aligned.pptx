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863838c455482a" /><Relationship Type="http://schemas.openxmlformats.org/officeDocument/2006/relationships/extended-properties" Target="/docProps/app.xml" Id="R0fea79879175427a" /><Relationship Type="http://schemas.openxmlformats.org/officeDocument/2006/relationships/officeDocument" Target="/ppt/presentation.xml" Id="Rd0eae422378f40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be3e9353124200"/>
  </p:sldMasterIdLst>
  <p:notesMasterIdLst>
    <p:notesMasterId xmlns:r="http://schemas.openxmlformats.org/officeDocument/2006/relationships" r:id="R0183ba28992046ea"/>
  </p:notesMasterIdLst>
  <p:sldIdLst>
    <p:sldId xmlns:r="http://schemas.openxmlformats.org/officeDocument/2006/relationships" id="256" r:id="R7f01b312fa3b4c9c"/>
    <p:sldId xmlns:r="http://schemas.openxmlformats.org/officeDocument/2006/relationships" id="257" r:id="R14c7ad6aca5d4eec"/>
    <p:sldId xmlns:r="http://schemas.openxmlformats.org/officeDocument/2006/relationships" id="258" r:id="Rcd8e3ba28dd0487e"/>
    <p:sldId xmlns:r="http://schemas.openxmlformats.org/officeDocument/2006/relationships" id="259" r:id="R88fbad4480b74833"/>
    <p:sldId xmlns:r="http://schemas.openxmlformats.org/officeDocument/2006/relationships" id="260" r:id="Rb317ad8dc5e74528"/>
    <p:sldId xmlns:r="http://schemas.openxmlformats.org/officeDocument/2006/relationships" id="261" r:id="R19517a7c009946f2"/>
    <p:sldId xmlns:r="http://schemas.openxmlformats.org/officeDocument/2006/relationships" id="262" r:id="R77d042b1fa74494d"/>
    <p:sldId xmlns:r="http://schemas.openxmlformats.org/officeDocument/2006/relationships" id="263" r:id="Re0c84e20961641dd"/>
    <p:sldId xmlns:r="http://schemas.openxmlformats.org/officeDocument/2006/relationships" id="264" r:id="Rb60abae01acb4366"/>
    <p:sldId xmlns:r="http://schemas.openxmlformats.org/officeDocument/2006/relationships" id="265" r:id="Rd05c3c558a814425"/>
    <p:sldId xmlns:r="http://schemas.openxmlformats.org/officeDocument/2006/relationships" id="266" r:id="R22d865363b104316"/>
    <p:sldId xmlns:r="http://schemas.openxmlformats.org/officeDocument/2006/relationships" id="267" r:id="R3532ca3d15e64a0c"/>
    <p:sldId xmlns:r="http://schemas.openxmlformats.org/officeDocument/2006/relationships" id="268" r:id="Re5c0b0e7b6bb4931"/>
    <p:sldId xmlns:r="http://schemas.openxmlformats.org/officeDocument/2006/relationships" id="269" r:id="Rfab23cdc63274b32"/>
    <p:sldId xmlns:r="http://schemas.openxmlformats.org/officeDocument/2006/relationships" id="270" r:id="R3df8f731f62440e4"/>
    <p:sldId xmlns:r="http://schemas.openxmlformats.org/officeDocument/2006/relationships" id="271" r:id="R5f52ea0c7c5b43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231523c0894f87" /><Relationship Type="http://schemas.openxmlformats.org/officeDocument/2006/relationships/slideMaster" Target="/ppt/slideMasters/slideMaster1.xml" Id="Rf2be3e9353124200" /><Relationship Type="http://schemas.openxmlformats.org/officeDocument/2006/relationships/notesMaster" Target="/ppt/notesMasters/notesMaster1.xml" Id="R0183ba28992046ea" /><Relationship Type="http://schemas.openxmlformats.org/officeDocument/2006/relationships/presProps" Target="/ppt/presProps.xml" Id="Rb61d52a338294e7d" /><Relationship Type="http://schemas.openxmlformats.org/officeDocument/2006/relationships/tableStyles" Target="/ppt/tableStyles.xml" Id="R769d1294476d4649" /><Relationship Type="http://schemas.openxmlformats.org/officeDocument/2006/relationships/slide" Target="/ppt/slides/slide1.xml" Id="R7f01b312fa3b4c9c" /><Relationship Type="http://schemas.openxmlformats.org/officeDocument/2006/relationships/slide" Target="/ppt/slides/slide2.xml" Id="R14c7ad6aca5d4eec" /><Relationship Type="http://schemas.openxmlformats.org/officeDocument/2006/relationships/slide" Target="/ppt/slides/slide3.xml" Id="Rcd8e3ba28dd0487e" /><Relationship Type="http://schemas.openxmlformats.org/officeDocument/2006/relationships/slide" Target="/ppt/slides/slide4.xml" Id="R88fbad4480b74833" /><Relationship Type="http://schemas.openxmlformats.org/officeDocument/2006/relationships/slide" Target="/ppt/slides/slide5.xml" Id="Rb317ad8dc5e74528" /><Relationship Type="http://schemas.openxmlformats.org/officeDocument/2006/relationships/slide" Target="/ppt/slides/slide6.xml" Id="R19517a7c009946f2" /><Relationship Type="http://schemas.openxmlformats.org/officeDocument/2006/relationships/slide" Target="/ppt/slides/slide7.xml" Id="R77d042b1fa74494d" /><Relationship Type="http://schemas.openxmlformats.org/officeDocument/2006/relationships/slide" Target="/ppt/slides/slide8.xml" Id="Re0c84e20961641dd" /><Relationship Type="http://schemas.openxmlformats.org/officeDocument/2006/relationships/slide" Target="/ppt/slides/slide9.xml" Id="Rb60abae01acb4366" /><Relationship Type="http://schemas.openxmlformats.org/officeDocument/2006/relationships/slide" Target="/ppt/slides/slide10.xml" Id="Rd05c3c558a814425" /><Relationship Type="http://schemas.openxmlformats.org/officeDocument/2006/relationships/slide" Target="/ppt/slides/slide11.xml" Id="R22d865363b104316" /><Relationship Type="http://schemas.openxmlformats.org/officeDocument/2006/relationships/slide" Target="/ppt/slides/slide12.xml" Id="R3532ca3d15e64a0c" /><Relationship Type="http://schemas.openxmlformats.org/officeDocument/2006/relationships/slide" Target="/ppt/slides/slide13.xml" Id="Re5c0b0e7b6bb4931" /><Relationship Type="http://schemas.openxmlformats.org/officeDocument/2006/relationships/slide" Target="/ppt/slides/slide14.xml" Id="Rfab23cdc63274b32" /><Relationship Type="http://schemas.openxmlformats.org/officeDocument/2006/relationships/slide" Target="/ppt/slides/slide15.xml" Id="R3df8f731f62440e4" /><Relationship Type="http://schemas.openxmlformats.org/officeDocument/2006/relationships/slide" Target="/ppt/slides/slide16.xml" Id="R5f52ea0c7c5b43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2681adad6644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ura AutoWash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AutoWas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fff4244664050" /><Relationship Type="http://schemas.openxmlformats.org/officeDocument/2006/relationships/notesMaster" Target="/ppt/notesMasters/notesMaster1.xml" Id="Ra708373649f34a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2956db442b4f92" /><Relationship Type="http://schemas.openxmlformats.org/officeDocument/2006/relationships/notesMaster" Target="/ppt/notesMasters/notesMaster1.xml" Id="Ra65a921c87f347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cf9f1d49eb4d89" /><Relationship Type="http://schemas.openxmlformats.org/officeDocument/2006/relationships/notesMaster" Target="/ppt/notesMasters/notesMaster1.xml" Id="R40c51cae6fc143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11db7c7d5a497e" /><Relationship Type="http://schemas.openxmlformats.org/officeDocument/2006/relationships/notesMaster" Target="/ppt/notesMasters/notesMaster1.xml" Id="R09336a2dfacc44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e3d35c3cea48e8" /><Relationship Type="http://schemas.openxmlformats.org/officeDocument/2006/relationships/notesMaster" Target="/ppt/notesMasters/notesMaster1.xml" Id="R608014c6c2eb47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ad47ad5a3e4e28" /><Relationship Type="http://schemas.openxmlformats.org/officeDocument/2006/relationships/notesMaster" Target="/ppt/notesMasters/notesMaster1.xml" Id="Rffb99335b36846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8e9ac30e674ce7" /><Relationship Type="http://schemas.openxmlformats.org/officeDocument/2006/relationships/notesMaster" Target="/ppt/notesMasters/notesMaster1.xml" Id="R61486966e1124a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f41b7d83fb4460" /><Relationship Type="http://schemas.openxmlformats.org/officeDocument/2006/relationships/notesMaster" Target="/ppt/notesMasters/notesMaster1.xml" Id="Rab0c3367bab44b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8637cc982841a5" /><Relationship Type="http://schemas.openxmlformats.org/officeDocument/2006/relationships/notesMaster" Target="/ppt/notesMasters/notesMaster1.xml" Id="Rc8dad77c849d42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a5a26a9ddc46a4" /><Relationship Type="http://schemas.openxmlformats.org/officeDocument/2006/relationships/notesMaster" Target="/ppt/notesMasters/notesMaster1.xml" Id="Reebbe13add4c4d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15a4db03f94716" /><Relationship Type="http://schemas.openxmlformats.org/officeDocument/2006/relationships/notesMaster" Target="/ppt/notesMasters/notesMaster1.xml" Id="R93fb8ef9be434a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b01edf7e16463e" /><Relationship Type="http://schemas.openxmlformats.org/officeDocument/2006/relationships/notesMaster" Target="/ppt/notesMasters/notesMaster1.xml" Id="Rd689e7723fae49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f405540bda443d" /><Relationship Type="http://schemas.openxmlformats.org/officeDocument/2006/relationships/notesMaster" Target="/ppt/notesMasters/notesMaster1.xml" Id="R242d7506c97248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aa71522ecf4bcf" /><Relationship Type="http://schemas.openxmlformats.org/officeDocument/2006/relationships/notesMaster" Target="/ppt/notesMasters/notesMaster1.xml" Id="Rac98ecc60a2748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9938ebcb2a448f" /><Relationship Type="http://schemas.openxmlformats.org/officeDocument/2006/relationships/notesMaster" Target="/ppt/notesMasters/notesMaster1.xml" Id="Rb88abb4a311349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8fcccbe18347ca" /><Relationship Type="http://schemas.openxmlformats.org/officeDocument/2006/relationships/notesMaster" Target="/ppt/notesMasters/notesMaster1.xml" Id="R01622688ca1147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105fdf7534c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385370e066497b" /><Relationship Type="http://schemas.openxmlformats.org/officeDocument/2006/relationships/slideLayout" Target="/ppt/slideLayouts/slideLayout1.xml" Id="Re1d818f6aff442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d818f6aff442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ura AutoWash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AutoWas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4488efdf14f7b" /><Relationship Type="http://schemas.openxmlformats.org/officeDocument/2006/relationships/notesSlide" Target="/ppt/notesSlides/notesSlide1.xml" Id="R63507dda8ab741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b07c122f34e47" /><Relationship Type="http://schemas.openxmlformats.org/officeDocument/2006/relationships/notesSlide" Target="/ppt/notesSlides/notesSlide2.xml" Id="R5bc0f326939f4c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70519352c4239" /><Relationship Type="http://schemas.openxmlformats.org/officeDocument/2006/relationships/notesSlide" Target="/ppt/notesSlides/notesSlide3.xml" Id="Re8c7f648632346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7299e1e8b4e00" /><Relationship Type="http://schemas.openxmlformats.org/officeDocument/2006/relationships/notesSlide" Target="/ppt/notesSlides/notesSlide4.xml" Id="R218d209eab9744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d997eeca64af3" /><Relationship Type="http://schemas.openxmlformats.org/officeDocument/2006/relationships/notesSlide" Target="/ppt/notesSlides/notesSlide5.xml" Id="Read8ceef27ee41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308287d084631" /><Relationship Type="http://schemas.openxmlformats.org/officeDocument/2006/relationships/notesSlide" Target="/ppt/notesSlides/notesSlide6.xml" Id="R450e866c86e043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2e7a281654c35" /><Relationship Type="http://schemas.openxmlformats.org/officeDocument/2006/relationships/notesSlide" Target="/ppt/notesSlides/notesSlide7.xml" Id="R30899aa5785b4e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b57e09554469a" /><Relationship Type="http://schemas.openxmlformats.org/officeDocument/2006/relationships/notesSlide" Target="/ppt/notesSlides/notesSlide8.xml" Id="Re31bb479a90a44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450066dfb4b84" /><Relationship Type="http://schemas.openxmlformats.org/officeDocument/2006/relationships/notesSlide" Target="/ppt/notesSlides/notesSlide9.xml" Id="R7e4286400da049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fc97cc89f48ed" /><Relationship Type="http://schemas.openxmlformats.org/officeDocument/2006/relationships/notesSlide" Target="/ppt/notesSlides/notesSlide10.xml" Id="Rcd2bf8b9702a4c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0486b0bea437d" /><Relationship Type="http://schemas.openxmlformats.org/officeDocument/2006/relationships/notesSlide" Target="/ppt/notesSlides/notesSlide11.xml" Id="R517b1024e4ce49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7478264274517" /><Relationship Type="http://schemas.openxmlformats.org/officeDocument/2006/relationships/notesSlide" Target="/ppt/notesSlides/notesSlide12.xml" Id="R6d61e85a3a9247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405a888b84041" /><Relationship Type="http://schemas.openxmlformats.org/officeDocument/2006/relationships/notesSlide" Target="/ppt/notesSlides/notesSlide13.xml" Id="R50d5e5ff483f4c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78de51d2f4f7d" /><Relationship Type="http://schemas.openxmlformats.org/officeDocument/2006/relationships/notesSlide" Target="/ppt/notesSlides/notesSlide14.xml" Id="Rc74002b5c4074e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152590bd64a38" /><Relationship Type="http://schemas.openxmlformats.org/officeDocument/2006/relationships/notesSlide" Target="/ppt/notesSlides/notesSlide15.xml" Id="Rc8e0cf03a9f749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cb9b8ce5941e0" /><Relationship Type="http://schemas.openxmlformats.org/officeDocument/2006/relationships/notesSlide" Target="/ppt/notesSlides/notesSlide16.xml" Id="Re2d94ebd0c0947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78E795-F774-4F0A-8539-B5091C69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E1567-7E8C-4F71-88FE-F4396F86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3. Proposed Solutions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A7A58-224F-4492-AD22-9CC52C3F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9D117-7CCE-456D-9804-2C92D0E4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"/>
            <a:ext cx="4762500" cy="38100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FF5A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75D45-278D-45C9-9A4B-4FA137B7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666750" cy="114300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71487-FD28-493D-8F3D-548B2BF2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48375"/>
            <a:ext cx="2286000" cy="64770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FF5A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DAA30-0906-4071-9A49-3A415412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1747838"/>
            <a:ext cx="838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46967-8929-492C-9512-DE48BE7E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428750"/>
            <a:ext cx="6096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78839-F167-408B-A453-31873332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524000"/>
            <a:ext cx="609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43B0B-E3AC-4F15-BDBE-ED9DAF15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33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CD077-F49C-481F-8B16-4FA3ABD7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47900"/>
            <a:ext cx="15621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Service Catalog</a:t>
            </a:r>
          </a:p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&amp; Booking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A0300-827D-4E10-8E2B-355DE5AB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90875"/>
            <a:ext cx="165735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Browse services, packages, combos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Choose vehicle and time slot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Create booking with clear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FA5CD-EBB0-47DB-8F40-2E2BFEA4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28750"/>
            <a:ext cx="6096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AF434-F41C-457C-BC5D-3228BD8C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524000"/>
            <a:ext cx="609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BEB71-D3D4-44FD-A579-9ACF99C5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33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FE9AC-2C98-453E-B5A9-AA0D8443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247900"/>
            <a:ext cx="15621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Vehicle</a:t>
            </a:r>
          </a:p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&amp;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FB70B2-C9AD-492E-B675-C9CD08D3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90875"/>
            <a:ext cx="165735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Manage vehicles and primary plate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Track wash progress live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View booking and service 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5595A-7A47-4AFE-AEAC-5CA4DF61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428750"/>
            <a:ext cx="6096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E69BD-B115-4FE7-ADC5-7FE6FB07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524000"/>
            <a:ext cx="609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085966-B744-40AC-B5A7-3A7E3108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33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5FE51-08D6-40FB-A9A3-D56A1D17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247900"/>
            <a:ext cx="15621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Wash</a:t>
            </a:r>
          </a:p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323A7F-9D86-4386-89DB-DFEA5167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190875"/>
            <a:ext cx="165735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Search booking or vehicle plate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Check in and update wash sessions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Assign staff by availability and 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857A73-319F-4E82-8750-021088D3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428750"/>
            <a:ext cx="6096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46A319-E68F-4D52-89E6-F145A9F0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524000"/>
            <a:ext cx="609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81AE9-8DC4-4185-B16C-56A4DF16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33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2E710C-DA55-4E52-A7E2-2257C9B9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247900"/>
            <a:ext cx="15621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Loyalty, Voucher</a:t>
            </a:r>
          </a:p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&amp; Payment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7DAA50-5450-4AA2-A2F2-42A6ACB0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90875"/>
            <a:ext cx="165735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Earn points after completed washes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Redeem tier-based vouchers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Pay by SePay QR or VNPay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31AFB1-4799-4021-8A5F-E605F36D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428750"/>
            <a:ext cx="609600" cy="6096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E7E20B-D6C4-401D-965F-6DC3AD4E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524000"/>
            <a:ext cx="6096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C8EE96-D2BB-4BC2-AFA2-0B0945AF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33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DF4649-DAEE-4983-837F-47BD8361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47900"/>
            <a:ext cx="15621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Admin &amp; Manager</a:t>
            </a:r>
          </a:p>
          <a:p xmlns:a="http://schemas.openxmlformats.org/drawingml/2006/main">
            <a:pPr algn="ctr">
              <a:def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238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Control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4FC9A2-1260-40DA-A0FF-0F8929E7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90875"/>
            <a:ext cx="165735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Manage services and promotions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Monitor dashboard and reports</a:t>
            </a:r>
          </a:p>
          <a:p xmlns:a="http://schemas.openxmlformats.org/drawingml/2006/main">
            <a:pPr algn="l">
              <a:defRPr sz="96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6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- Review ratings and 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AB34E2-A8FB-40A1-BCF2-D09A52AE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7429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8890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End-to-end flow: catalog -&gt; booking -&gt; payment -&gt; check-in -&gt; wash session -&gt; rating -&gt; loyalty/reporting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A78C94-A9ED-4A82-8C47-58EF20EB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219700"/>
            <a:ext cx="781050" cy="781050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8613B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1148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D67CB-6F2F-4DE5-B376-69403255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24842-83BB-460A-ACF7-6F930204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3. Proposed Solutions | Tech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7EA39-86A7-4BAA-BC6F-B025B72A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B7C82-9694-447C-B449-21492CFD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8150"/>
            <a:ext cx="1428750" cy="1428750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05050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800B1-4E97-4D72-BDE7-451080B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000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49395-03A2-4D19-9592-E3EA2281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"/>
            <a:ext cx="152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5A"/>
          </a:solidFill>
          <a:ln xmlns:a="http://schemas.openxmlformats.org/drawingml/2006/main" w="0">
            <a:solidFill>
              <a:srgbClr val="FFE0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83209E-D189-4129-ADB9-4D35F0B1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52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177EF-E08D-48DF-B535-42CF8CD7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6074"/>
            <a:ext cx="742950" cy="40862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15D37-A643-4C7F-8CF5-C7671A0E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14525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2758A-937B-4303-9EF7-40EF4CBE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47925"/>
            <a:ext cx="31432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Java 21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Spring Boot 3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REST API + WebSocket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JWT Security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13FA9-2288-4F78-A09B-B81DADE0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0AF5A-55CE-4B06-B720-CBC7CA97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6074"/>
            <a:ext cx="742950" cy="40862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98404-B3BE-4E2E-9C2A-13E8E292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14525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C8209-767E-4CCF-A593-F41A1F86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47925"/>
            <a:ext cx="31432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PostgreSQL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Spring Data JPA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Flyway migrations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H2 for test profile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795A6-FC73-4CD5-9EBA-8B7222A4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4E7A1-3625-4374-8B22-A64CF692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68699"/>
            <a:ext cx="742950" cy="40862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CBD72D-5FA6-4382-81C6-C6A0429D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Frontend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BD2F3-ED00-4202-91C8-62A703A4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31432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Next.js 14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React + TypeScript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Tailwind CSS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React Query + Axios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B5E79-AA46-4ED7-805E-063E1067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F8485-52B9-40DB-AA88-12F6623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68699"/>
            <a:ext cx="742950" cy="40862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63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12D12-C668-45E3-AC42-503EA0B1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67150"/>
            <a:ext cx="2476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Integrations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888FA-2998-4BFC-B1A0-D0E0F936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00550"/>
            <a:ext cx="31432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SePay QR + VNPay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Resend email/OTP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AWS S3 storage</a:t>
            </a:r>
          </a:p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Swagger OpenAPI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16A01-D261-44BA-8B16-1B132C02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76932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437F413-05E2-4725-8CE4-86FCD01F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A69BF-42EB-468C-BF08-0239CF0D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3. Proposed Solutions |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26AB9-20EB-46D8-B8A1-C77EA2A8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B7314-BD37-4CF2-B26B-32CAAA47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29250"/>
            <a:ext cx="1428750" cy="1428750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BFDB9-68E6-4520-B237-F6FC2E48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019300"/>
            <a:ext cx="685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9B5F2-6BDB-411A-9E87-0B95075A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34F1A-2590-4C31-9E3C-903C885C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45539"/>
            <a:ext cx="552450" cy="30384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9B9CB-7D5C-4FAB-84A1-97D211AC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8CA12A-9295-4BA2-B8A0-71700C7B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8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F3CE8-BC24-4D93-BC2E-405DE4C7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0414"/>
            <a:ext cx="552450" cy="30384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56CE8-2698-4C79-9248-3CADB36A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19425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Console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9A835-709A-4E9A-B67E-03C29101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F89C4-D7F5-461C-849E-4402B07A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55289"/>
            <a:ext cx="552450" cy="30384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18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8DCFC-1CAD-4B24-95C9-D1408A7D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24300"/>
            <a:ext cx="10477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0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Manager/Admin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BC4D4-09D2-42CD-8D8D-FE847200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52550"/>
            <a:ext cx="6000750" cy="3714750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425A6-E01B-4FE6-8F1B-BDE8A3CC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466850"/>
            <a:ext cx="2857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Application Architecture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3FBF29-4366-46B1-9B32-43757C6D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47875"/>
            <a:ext cx="1143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7F519-B3BA-4D12-846E-AED02ED0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71700"/>
            <a:ext cx="8572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Next.js</a:t>
            </a:r>
          </a:p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Frontend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E2EF1-E5D6-40EF-8421-0AAAB7AE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47875"/>
            <a:ext cx="1381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78BE66-C891-4B71-B251-555C5AED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71700"/>
            <a:ext cx="1047750" cy="4286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Spring Boot</a:t>
            </a:r>
          </a:p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REST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E54AC-7C8F-4420-A486-B772B110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0375"/>
            <a:ext cx="1809750" cy="1428750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4E287-307D-45D3-A89E-38532F60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432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FD689-6FF1-4DC8-8935-9ED41A36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527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Auth 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4A8C8-3B9E-45DD-B6EA-A0560E80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337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47FD22-0FBE-4B8C-B6F4-55F76291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432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8B481-F139-405D-9994-9B4D67D3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242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057EAC-D802-4CDE-96B2-38D4B780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337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Catalog 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D1CBE9-AFD1-4273-A3F8-82C55873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147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66C4FA-432F-4E00-ADFF-51ABD73F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Operations Service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704B7A-DB53-4BCB-AA7F-323DC6C6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9052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2B3F9A-0CFF-4C0E-BAA5-595ACCED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147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Loyalty 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8A728E-061D-4B51-A0FB-9FDA1F95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95750"/>
            <a:ext cx="1333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156FA4-E568-4A0B-803B-3EFCB12D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05275"/>
            <a:ext cx="1095375" cy="1238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13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Reports Service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657EB2-134E-49EB-A44F-B53CEDE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9550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5426EF-7CB2-4823-BD1F-DB3059E8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86000"/>
            <a:ext cx="952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1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PostgreSQL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EE4F5D-82E4-4BBD-8D90-CCEDADB2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05125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85094D-80DA-4DA3-9FB8-05208EF3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19425"/>
            <a:ext cx="100012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WebSocket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Topics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B8019C-60CB-4A66-A2E0-97DEA442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5050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4D5366-7049-4017-B296-1B84F47C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29050"/>
            <a:ext cx="1095375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Resend / S3 /</a:t>
            </a:r>
          </a:p>
          <a:p xmlns:a="http://schemas.openxmlformats.org/drawingml/2006/main">
            <a:pPr algn="ctr">
              <a:defRPr sz="97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7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SePay + VNPay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81CEDC-8C8A-4D70-884F-6BCC6035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69676">
            <a:off x="2238375" y="1781175"/>
            <a:ext cx="158312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7826C6-625F-455E-92E9-4AF9C996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57600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8A0F6D-C301-4F04-B478-A3BA2091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63461">
            <a:off x="2238375" y="2686050"/>
            <a:ext cx="15135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9E043B-6D04-4E5D-8DFB-166CB5AE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57600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85F4DD-8E60-4657-97E0-83AAC15D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399213">
            <a:off x="2238375" y="3590925"/>
            <a:ext cx="192690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FC1B3A-F5FD-4E19-A68C-86A50AFF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57600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E4F3F0-1AC6-4FDE-8E23-63ADC915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2352675"/>
            <a:ext cx="619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D028A4-806F-40F5-9956-CFB8A90B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467350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D1CCCC-EE5E-4B85-90AC-6229AC0F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3526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6B3BF5-B194-42AF-92FA-EEFFAC87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610475" y="2305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A86929-A318-4590-8C2C-3E866394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41241">
            <a:off x="6905625" y="3419475"/>
            <a:ext cx="7983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C28786-19BB-4FB5-8FA0-71642432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610475" y="3133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A1F0BC-AEFA-4428-A30F-06438E64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7501">
            <a:off x="6905625" y="4086225"/>
            <a:ext cx="76793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FF28B1-39EE-4D68-AE48-285293DB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610475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3A21DB-7A67-483F-A6BA-E743A7AA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8572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0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Legend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0402E0-8FDC-4E6B-AD8B-2578A530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496252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29ABF3-D05E-47B8-8D4F-EF8BCAE7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86325"/>
            <a:ext cx="762000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5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REST traffic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2A8082-AE2A-4772-9D40-27F1F6A5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5186363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B665E5-11CE-4088-BA56-4A9845E3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14925"/>
            <a:ext cx="904875" cy="152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750" b="0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Real-time events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0D3FE5D-DE7F-4DF4-8527-46883ED3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5225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C8175A-1C6E-448A-A7C8-ADFE74B7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A78ED-9FF2-42F2-9F89-D484FCE5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85607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3. Proposed Solutions | Check-in &amp; Wash Operation 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09C2B-41DA-40FC-86AE-052F865D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2B4A8-EE39-4C16-9DF9-68209C72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6192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AAFA8-3205-4865-93EB-D87B24AD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6CDDB-9225-4C8D-B678-277FE048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7431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DED11-E1FE-46F9-9911-833AD580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81250"/>
            <a:ext cx="1047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ID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Plate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4EF76-9B37-42DE-A5B5-DCC9C1B6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17057-DDA8-41DC-83ED-FE7D485F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831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67AC8-F222-41D0-8888-A2E18ADD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1047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Console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85410-18C7-4FD0-B952-FD0DC3DA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5F4F7-F70C-4239-B54D-ABFC5DC5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3631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65016-A68A-4436-A417-94FF00C0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43250"/>
            <a:ext cx="1047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C8B04-192B-442F-B9B1-37094651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38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F2770-1FDA-4DCA-A488-E9DA4DA5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93692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WA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CB50E-CD29-408E-A4C3-E1A0EA74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00625"/>
            <a:ext cx="104775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84F213-CF52-4B97-8DE4-14CEB06A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66925" y="2324100"/>
            <a:ext cx="809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22E1C-DC53-4342-9523-0D940F90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009775" y="3086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8865B9-3AB4-4639-A3F3-CD4178D2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06392">
            <a:off x="2419350" y="3467100"/>
            <a:ext cx="120993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93577-C66D-4B96-BD6F-877D4BD1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371850" y="27527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68D909-5894-47B1-95E5-FC992B85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781425" y="3114675"/>
            <a:ext cx="1114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8A436F-A452-4BE1-BC71-A12DE1E9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724275" y="4181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7ADE39-2621-43A7-817E-0FD068B9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215464">
            <a:off x="3781425" y="4229100"/>
            <a:ext cx="156331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C31290-F77E-4951-AE94-4A638CCB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324100" y="3486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7FED61-92E5-4A4E-A29A-4C6BD784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C03576-8596-4DF0-A5DD-F8CFE2B9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183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B52AA0-A530-405F-BF1B-1CB7D588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/ Plate 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F97549-102E-4FBB-9D49-1AC02D17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Customer arrives and staff finds the eligible booking by booking data or vehicle plate.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1782DE-AD3A-4F33-B920-28ADEEEC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2486A4-73E9-4709-9F52-7A50FD02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238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B19F7F-9494-4F25-BBAC-8D52CA6A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Check-in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1BBC0B-FB26-4605-B110-80CD3981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Staff validates the booking and creates or checks in the wash session.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67B36A-0F9E-4EA7-BC47-C3180A4A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0C0E24-8E51-4AE0-BB90-9FC3F4EA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293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0CC863-68F0-45DD-B88B-AA1FF0FF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 Validation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C71F27-CD36-4CCC-9D86-1F3AAD23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Server checks booking status, vehicle, slot, payment and assigned staff.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97D758-9653-4509-AA81-C97C6375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E39CD2-0473-4A48-8DA9-397B5F21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348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593104-FBCE-41F4-BD8B-6A984DB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Operation Updates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43CFCA-261D-4BB6-9689-2776CB41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Wash session status changes from CHECKED_IN to IN_PROGRESS to COMPLETED.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EDEF62-80E8-46E0-9A50-28DDF8A8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38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9A8791-258F-4852-82A2-5817F7CF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03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DD8134-6CA6-487D-BE0F-8B4122FA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Real-time Sync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E4B72D-6906-47D5-9D4F-134B03CC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WebSocket events update admin, manager and staff dashboards.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159E7D-8F8D-4D93-A919-CD71BB92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F0094F-0359-4E72-A4C6-2B288EF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4588"/>
            <a:ext cx="342900" cy="18859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349027-8F85-4F07-B9CA-1BA50DB1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20955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Follow-up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42D545-B6C5-441E-834B-21D5A9D2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3714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938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Customer views history, receives points, and rates the service after completion.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4A3FE5-D182-4915-98CC-201E3CAA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912386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5BC0D-A977-4CE4-977F-85BE348A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593FA-000A-45C2-BE47-026380F1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6305C-79F4-44B5-9FFD-AA0FE115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D6014-E410-4613-AD96-8B635878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12324-188C-4650-B9DE-448833E3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515FB-02F9-4F98-ADA3-1C286B63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57F3D-BC20-43DC-A09E-E6603275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F7775-6CD8-4322-8F00-34461092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FD4FC-0E35-48AC-8FCC-775F38A7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D0C00-267D-4BF4-9928-A98BECCA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C5EF5-F394-4BF7-9296-2259CC2C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guest,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DF640-16CE-4D07-871B-F8217B73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View public homepage, guides, service catalog, and promotions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6704A-A1BA-487D-9E65-2C830F7D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Register a customer account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88749-5DC0-4E89-A059-0B9C1146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Browse wash packages, combo sessions, and individual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7D89B-0BDE-4DEF-86E2-F62E0A31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Start a booking flow after authentication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CFCD22-BCAD-46E9-BCC2-0B813ACE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Read car-care content and customer-facing announcements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99ED6-9396-4146-A450-D94802D8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Switch language between English and Vietnamese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2F676-AAFA-40A3-9BAC-A0B917E1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1052692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6778B-8996-4AAE-A0EC-887729A5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10DD5-FD5F-42DB-A505-1E4C0FE1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D448D-0C39-4C40-9C28-B372B01F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93E4B-6A1E-4056-A4FB-108EFE99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8339C-5ED8-46F3-A17B-E5D4E57C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4A3E4-365D-49FA-9687-095042F5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67220-6630-4A17-B224-6B10F690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1EB74-6541-42A6-9667-AE082A00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972F8-879A-4916-BB48-C4A18786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09AA3-3095-414A-B71C-CB30859A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3C3B-86AF-4DE0-9C0F-F6A74BB5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registered customer,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E3441-758A-48EC-AD86-62A51822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Log in and manage my profile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1B610-5C90-432C-A902-149839FD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Add, update, set primary, and remove vehicles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3DC75-574F-40F7-89FB-85079A6D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Book wash services by package, combo, or custom 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A0B4F-339B-4811-A5A0-79C1EAEB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Track booking status and wash 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CB69C-EABB-460D-B989-BF61260A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View notifications, booking history, and service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335A7-9B20-4133-8F88-F0058193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Redeem points for vouchers and use tier benefits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51A95A-D36F-4F1F-868D-5FFF17B2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215957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D975C-B768-474F-BD29-39D93E0A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9F696-6ABE-4278-B369-D1E15311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837E3-4CF0-461E-93B1-ECC220FD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35E89-8D9A-460A-9C2C-8AAF9263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3A7EE-A013-4DC2-A998-47DF5B27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3A6B3-AC79-425E-8485-C21D2C0A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E0083-7679-427C-95FE-236E9776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48F24-FA1F-49AB-8BE9-532B1C35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11573-3B7E-4FB9-9096-2DDA9E2E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C32E3-62DA-4340-BC20-7433CFC2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EAF77-1889-4677-B0E7-8F469004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registered customer,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2DD1A-2236-4230-980F-2F3E0BF5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View all vehicles and booking details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145DF-BEFF-492E-AEBD-AE05B01C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Cancel or follow up eligible bookings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FBD3A-1F09-4BA9-B4A7-B493D671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Rate completed bookings and service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7104F-DE37-4D24-A2FA-90470B81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Review earned points and membership tier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C190D-2EE6-4545-AD7D-46311E6F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Redeem tier voucher offers when eligible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0A32F-709D-4C92-BE0E-2EC3F5A1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Receive reminders and support information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24F1E-5C42-49C3-AE71-2653DA31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620547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E6269-5D5C-4405-B3F7-DFBB3269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E2276-FE53-4054-A103-14270083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C640C-4961-4322-83E0-092EE013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425EA-4E31-4FB3-A781-0ED450EE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51D0F-210A-4363-9901-615E002E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32A6D-32F8-4EEF-A877-E9EB980E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9E033-1885-476C-AD02-F7D8AC83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26D45-8203-44C0-A578-B0982BF8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32F5F-0B27-4EF5-A4C8-34436672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C2E9A-5F4D-429C-89E5-0E0CCCBC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A6E9F-7877-41F7-BBEA-B5260A2D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staff member,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DA23D-C94B-41A3-ABE5-0AA947E9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Log in to the staff workspace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72E50-8BDE-41D9-BE85-9EDE1A18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Search eligible bookings for check-in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0AE0D-C017-48DE-8CA0-A0553AF7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Create and update wash sessions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99910-E9FE-47A4-B8F5-2EDC6C87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Follow assigned work and service 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BCA8D-F99F-42A8-92FE-1077A893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Update progress from check-in to 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45B3C-CB05-49CC-B158-9BFF56BB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View daily performance and assigned tasks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A0AFB-B0C3-4B69-9A2C-89F670A6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8713437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7FC37F-C607-4BC2-B7AB-729BF8A8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B2130-C8A0-4110-985D-B0058F84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0390B-7B8E-49DC-9F65-DAFF4AE6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6DD8D-2681-40A8-B2F9-4839FBB3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B3A31-5FCC-4D40-A751-28E8DF68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E42E1-4F8D-41CA-82DA-C4738CD6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24A33-3D83-47AC-8DEB-525A4E20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3EEC0-7D34-4C91-87FA-56D67BA5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MGR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2C360-5D0C-44FF-BE35-E5C343B7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5960B-BA1D-48E3-8F12-F34A0674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938A8-524E-4992-AE2F-A86F5A3B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 manager,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3D863-CC9C-4D94-A37F-F005ED22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Monitor operation dashboard and attention popups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121C2-C05A-4C3F-BA5D-A170D841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Assign staff to wash sessions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F1E59-BFAD-40EF-A782-9345BD58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Track staff workload and availability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E8BBB-D07A-4491-A74A-DED24D5E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Review bookings, sessions, revenue, and service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2C72E-66C9-4C85-88EA-5416D5EC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Handle delayed, unassigned, or unfinished sessions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9AAA7-BB13-423B-89A0-17C016B2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Use reports to balance workload and improve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388AC-DD9E-4DFA-B9B2-6C83F25F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1836261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F6E49-D6F1-49FF-92FC-18312501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24E48-1C9D-4E5D-940A-10113E5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5. Main Actors &amp;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B6CF4-DF1B-4D48-8447-E5A4863A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C523D-D131-49E1-AAA2-EC1138A3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86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56D9A-6F15-4EFD-B429-1D8CD8FF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1781175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28927-96AB-426A-943E-6BA41FBA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76350" y="40862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7B7A7-2362-4E0E-98B1-B60AA184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7674D-8A5A-4F16-86A7-7D17ADB2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21536"/>
            <a:ext cx="876300" cy="48196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932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ADM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4EED6-6E8A-4C4C-9959-D14B29F8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B25F6-325E-48E2-90CE-F1484A7C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91878"/>
            <a:ext cx="523875" cy="288131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3E33A-4193-4816-8D5C-0A01A903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04950"/>
            <a:ext cx="4381500" cy="342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650" b="1" i="1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As an administrator, I can...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F2F93-1414-4CC2-B224-0C3BA179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Manage users, staff accounts, and customer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BF84C-D3E0-4E72-9E94-1620F480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336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Manage services, packages, combos, add-ons, and promotions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F6000-EDEF-4D27-B36F-EACAE6C0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Configure loyalty tiers, points, and voucher offers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F40C8-E4BE-49FE-9B4D-67A24F4A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Review bookings, payments, reports, and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1D9F3-DA89-460D-85FC-D799085C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Monitor dashboard KPIs and staff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FBF07-A99F-4D01-99A6-EF0B27E8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6667500" cy="5143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80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Manage content, settings, notifications, and system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D2214-C6C5-49CE-A18F-81113FA9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4000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75569"/>
                </a:solidFill>
                <a:latin typeface="Lato"/>
                <a:ea typeface="Lato"/>
                <a:cs typeface="Lato"/>
              </a:defRPr>
            </a:pPr>
            <a:r>
              <a:rPr sz="900" b="0" i="0">
                <a:solidFill>
                  <a:srgbClr val="475569"/>
                </a:solidFill>
                <a:latin typeface="Lato"/>
                <a:ea typeface="Lato"/>
                <a:cs typeface="Lato"/>
              </a:rPr>
              <a:t>Smart Automated Car Wash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9148278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2D8495-697A-4BCB-9E0E-F7EEF38E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29DE3-2A20-409B-9B80-C60714A7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Scenario 1: Booking &amp; Service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9A512-8B57-4371-8FC8-A88B6CDD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B20BC-33AD-48FE-AD62-686F1FB5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0"/>
            <a:ext cx="2333625" cy="2333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46C67-8A07-491E-A667-FE4B9561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24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6CCAE-0EBC-46F4-A336-6BB80A5E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FF9A4-EF23-428C-89C0-99AE93CF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22120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EF70A-124A-4DB7-9E9A-7251DFE7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57400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Browse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CF5B80-1518-465F-98EE-6CA4A04F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524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E0B8F-2C1C-41EB-A6F0-380EEB87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8064E-FD74-4F52-8402-C19F934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22120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74133-D628-4AFA-8A1B-9C76B79D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57400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Select package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combo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E8010-68E5-4C11-ADF8-047E4933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24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A230B-B9E6-45F4-95F6-9A710024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98813-9F85-4DEB-85FF-975CE10A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22120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04FFF4-764E-4E04-A95A-8D8CFB10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Choose vehicle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time slot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674D0-80B8-4E2D-9676-06CADBDE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240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27550-CD47-42DD-A4AB-63052232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38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A2C53-35C4-4CAE-9A09-034F0A1F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22120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1D1BB-2B2B-4572-84B3-F01F6542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57400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Apply eligible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voucher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0C440-E7C0-427E-865C-7C59B53B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81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1365E4-C608-4F0A-9D4F-A18257AA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95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F11EC8-0306-4305-839A-9FCCA15C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94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8E8BEC-43A3-48F8-AF94-62082BD5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147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85075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Create booking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choose payment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E524D-5521-4C31-9C76-4655802A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381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CF8279-8C77-4B5D-8897-0F86C0A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2F5E82-7843-409C-A6F4-152837BF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794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71FB4F-87D9-49CA-BC4F-6C6CFF31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147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Pay by SePay QR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VNPay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E4BC7B-3F4F-49B0-837C-5EB5372E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81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5BD16F-C055-47A0-9AF2-C7EFC49E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95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782ACF-A7E4-47A2-9F55-DB5A7B58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794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6C745D-BD26-484B-AB5A-B46F27F3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9147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98961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confirms;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checks 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A75324-E8FD-4FA2-9119-4C5628E8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813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9F47D7-5546-438A-80AA-3CE14E3A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95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6B69F7-0207-4F3F-93B8-575ECF5B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794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C1ACEC-2154-4C39-9C5D-EC868345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147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 session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progress updates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6BF0E9-4C0D-4886-87D3-6604B67C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958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84BA67-B5B1-4DD7-B3D6-1D2C9130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101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0D7D30-A155-4CB8-9B0B-C720A705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93995"/>
            <a:ext cx="38100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1E3989-96DB-417F-9259-FE31A1A9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629275"/>
            <a:ext cx="12382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81368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Complete, earn points</a:t>
            </a:r>
          </a:p>
          <a:p xmlns:a="http://schemas.openxmlformats.org/drawingml/2006/main">
            <a:pPr algn="ctr">
              <a:def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05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submit rating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91C935-0AF7-4851-9AD0-FB194B75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19907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55D69B-5FD5-4F3F-9F2F-95CBDC2A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09975" y="1943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2EF781-67E1-4BE0-8368-FBD02F89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95875" y="19907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8D9EE8-7707-4018-8795-73C98606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705475" y="1943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5FCDB2-C927-4808-B792-F430AE87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199072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0857CC-CD76-48D7-BF1C-F82DD687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800975" y="1943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250E68-0D31-4C1E-B72C-D95FB0C0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72500" y="2466975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C48731-658F-4762-A3F7-A00DBAB9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51535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A8B140-EBA5-45BC-90A2-420CDCF6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858125" y="3848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0390EF-0A74-46DA-8D55-390D0984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134225" y="3800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EE34D2-5A0B-406E-9EEA-891EC668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762625" y="3848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9F8AE6-58BE-4161-8AF3-B52CA609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038725" y="3800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B6F2FF-2BEE-4EDB-93A9-2FEFCBCD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67125" y="38481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6CC5A2-E23F-4C3E-B96E-0E08444D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943225" y="3800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E7EACBE-51A0-4950-9CE7-7BE7A559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6835">
            <a:off x="2286000" y="4324350"/>
            <a:ext cx="270499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6618534-6EA2-4656-BA32-F4B73D24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657725" y="5467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FD9CA2-64FC-4F40-B87E-F7862292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96000"/>
            <a:ext cx="72390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8970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Real-time status is synchronized across Customer, Staff, Manager, and Admin workspaces.</a:t>
            </a:r>
          </a:p>
        </p:txBody>
      </p:sp>
    </p:spTree>
    <p:extLst>
      <p:ext uri="{BB962C8B-B14F-4D97-AF65-F5344CB8AC3E}">
        <p14:creationId xmlns:p14="http://schemas.microsoft.com/office/powerpoint/2010/main" val="11103888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B3C6DF-D79B-45A7-A79B-11059CD3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CFBC1-067C-4743-A9C9-8AF59B98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Scenario 2: Customer Feedback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DB3BA-3DFC-4B62-B47C-5C7BF344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11805-A909-48F4-8129-B1AE4D60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00750"/>
            <a:ext cx="2000250" cy="55245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FF5A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6C581-32A8-4C40-B5FC-9CB1A3E2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76300"/>
            <a:ext cx="1190625" cy="1190625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861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0C77D-C52E-4FE9-8B80-CEE24FA7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287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639A8-D6E4-4C2D-AE2D-FF9F949F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4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00D5B-5F04-487C-BFEE-E32D86BA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22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7F32F-033D-4D29-ADF9-E7FDBD9F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431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98095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opens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completed booking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ABC56-D20B-499F-9DCE-C67E20FD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287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108AC-6998-4857-90EA-5058E297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4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62901-42F9-4F7A-B3E9-84E73841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22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C0562-9AD4-49D7-BB6E-DD9F256A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431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Review service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staff details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4211A-FFBD-41BF-98D8-CD719104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4287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23286-6996-4001-8418-D79AD52A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4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E60E5-0E7C-43C6-A54B-CD2D0147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22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47064-E5CD-48F4-BF8A-53CC9F3E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431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Submit rating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64F8D-4E57-4E40-A925-1E2BAB3C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DD240-B02A-43C8-84E5-284F195A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4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52AC24-08F9-4606-BB84-8038C48E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22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F62654-7429-4CFF-9E3A-07D82E1A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4310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 links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feedback to booking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60043-4B61-4CD8-B28D-950E261D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6575" y="18573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28211-9B84-4C0F-9FD8-63A2D44B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65760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744A72-DC71-47F1-9874-B76B6BD0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450" y="18573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273BF0-27C4-46B5-9502-A04DAD0C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705475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C0BC2-77C4-4596-8C88-84DDB755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2325" y="18573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5527D-788C-419B-B2C9-8141D4D5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753350" y="1809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78AB2-8A2F-4585-8F7B-10DADA91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14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AF259A-1A34-4015-9DE6-B9FE67F7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5B1CCD-C078-4352-B655-3401CA3D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784496-D689-4D18-9035-B4D26398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29100"/>
            <a:ext cx="1428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Admin reviews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feedback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1417AB-369E-4DB1-ABAC-4EC2E73D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14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F1BF7F-8C9E-4503-84F9-7D5B069A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8FA1C9-C842-4245-8B47-74CC5655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76FD50-CFD3-436E-8C2C-D6E3D5D4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29100"/>
            <a:ext cx="1428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Manager sees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service quality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902BD4-126C-4264-8861-9DFF0323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2A6069-B42D-4268-98F9-F1EE50E8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9804B6-EFC6-4B93-B066-DC10A4F4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300A82-7E31-48C9-9570-93226D15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229100"/>
            <a:ext cx="1428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Ratings update staff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service insights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82C045-1305-4805-9B90-1D2BAA18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0505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29B7E3-A6EE-406D-B451-EE3EF37D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33725"/>
            <a:ext cx="516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9A333A-7C7B-4AE3-A1AC-D9931C4A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4325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940212-27E7-4A16-B69F-54DC12DC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409950" y="3657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2773D7-D765-4CB0-A76C-1E46646F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7200" y="4143375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355CB8-2FEA-49B0-9D15-BF2F4E52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943475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862EDD-15BB-4C0C-851D-90230E64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0825" y="4143375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D12B3D-9327-4852-806E-7E4F4DE0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27710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30CBB9-CEBA-4524-916C-D058C90F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7048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65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Output: ratings become operational data, not just comments.</a:t>
            </a:r>
          </a:p>
        </p:txBody>
      </p:sp>
    </p:spTree>
    <p:extLst>
      <p:ext uri="{BB962C8B-B14F-4D97-AF65-F5344CB8AC3E}">
        <p14:creationId xmlns:p14="http://schemas.microsoft.com/office/powerpoint/2010/main" val="12454414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BDBB50-9029-465A-8B7E-DBB68632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37877-2A96-45E4-A96A-99638175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Scenario 3: Booking Quality Validation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16CF8-9B29-412C-AD73-5C726F04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A82FB-C7E2-43F7-B448-B9EEDC04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4340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1BEDB-976F-48CA-B926-CE94DE36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240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D698A-40DD-4252-B26E-57AEF497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38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46976-F794-46A2-8F95-70087B6F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179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61FEA-9B6F-47D4-ACBA-ADFAB95E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0383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arrives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at wash center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086D5-68B3-44B2-BF08-8E23E457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240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5F6F8-DCF8-436D-8D17-7373F4E3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38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F1E6F-F0EE-4BEF-8B5C-EA049CBA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79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A2FE2-BEF3-4A89-8DDE-4BB95BA6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383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searches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or plate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AB123-2612-4FED-A14B-C85925B5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F2E11-0475-48D4-B97A-653A1FE0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38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17852-5546-4FB7-8128-A55FC382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79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B3721-7658-411C-9B93-E04D3AA3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383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System validates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B4C86A-08FE-4CD2-9EC4-91162DE5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3AE1D-1772-4CF0-ABB4-94536653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38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C7EE3-E09F-45EA-8411-A3A1F039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79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D86FA-610A-4E3E-A78F-C2AC8BFF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383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 session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is created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EECD3-5BDE-480E-96DC-32D8743E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19450" y="19526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61BBD-ABF1-48C8-91E0-6F84C57C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94335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3E047-0237-4CD2-9E1E-4BF627D6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19526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91096-99C5-4CA7-88C3-E091CC86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13410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9E8135-D6B4-4340-AFFA-9C8BFDE9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195262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80AB1E-FE75-43CC-88B9-187BABE9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324850" y="19050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A166BA-68D6-44DB-9A98-E0C7883C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00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530EAC-3AC1-455F-9209-3C94D333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14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0FDB08-9E4A-4D24-90CE-7E8722DB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94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ED3840-89ED-4F64-8236-3543A90C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1485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Progress checked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E0F951-7B91-4BA6-BA7E-332CF9F2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00500"/>
            <a:ext cx="1676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3FA569-F177-49BC-9520-48970BAD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14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1A5863-5B39-4AC5-95ED-E1E637D5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94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EBAAD5-E413-4B64-8314-1458C52A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14850"/>
            <a:ext cx="15049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Completion unlocks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rating request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F9D776-4C70-4765-8C30-219A0669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0"/>
            <a:ext cx="171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C72BAC-ADB6-434E-9B00-DFE41F0F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8F6E55-CB5C-45B9-B068-5E95EC9B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94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366384-1892-4F2A-A278-951E9D27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14850"/>
            <a:ext cx="15430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Reports update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performance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6120F4-540A-449C-9A31-4F3AE24E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00300"/>
            <a:ext cx="1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B8FEE1-D44B-4FEA-B599-1D17E518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14725"/>
            <a:ext cx="5572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295722-28F9-4D0A-B3DE-34140687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2425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B8F940-70A5-44AD-84F6-21FE9183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467100" y="3943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C3AAAD-7C2B-4626-A975-2702EB49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3875" y="44291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C24E01-97E0-4AB4-888A-B4F815BC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229225" y="4381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B513A2-32F2-4E18-8719-515B5D09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4429125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54CFF4-8C42-46DD-ACF8-7209DCB7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896225" y="4381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C2F1B7-3388-4FFE-A0ED-1348C1AA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19750"/>
            <a:ext cx="7905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Validation uses existing booking, vehicle, session and staff assignment data.</a:t>
            </a:r>
          </a:p>
        </p:txBody>
      </p:sp>
    </p:spTree>
    <p:extLst>
      <p:ext uri="{BB962C8B-B14F-4D97-AF65-F5344CB8AC3E}">
        <p14:creationId xmlns:p14="http://schemas.microsoft.com/office/powerpoint/2010/main" val="12570031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0F35A0-3CFE-4678-9942-0D2B6E55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3E5D5-8F71-45DF-A236-64506016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Scenario 4: Reservation &amp; Payment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1FD91-AB6C-458F-98D7-983DCC72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5DE1A-BD08-48E8-B7D5-858C0CFB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33450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E3B81-D11E-433E-B9DF-F406772E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71625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9EC6A-8A21-42F0-9F9B-F024EFD0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685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FF584-478A-4F88-AE5F-B5986CF0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765554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C96318-B09E-4762-80FD-9FA008A9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0859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Choose service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ACE58-ECD6-49C8-AD19-696A029B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71625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09699-F6BB-4FF2-B4DD-DA0ACB38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85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7642B-F478-4E50-A1DA-84700C1D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5554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7C3FA-8B98-4054-AFC9-77558B7C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859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Pick date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time slot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BFD76-D1DB-4C3F-AFAC-A95336D7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16359-E771-445D-9426-0AB976E8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85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AD5E9-CD1D-4469-BDCB-13902889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65554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0C8C0-0EE1-416C-8E8A-7DD877E1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859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Select vehicle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add new 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B074E-DAF0-4186-B275-4849B53A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71625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59710-30E6-4293-82F0-13EDD96B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85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139AE3-F36E-48FB-A74C-526D8681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5554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6EDF2-432D-4468-A9FC-EAD3784D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85975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Apply a redeemed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voucher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F3ABE-B080-4612-871C-0EF4D506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20002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F35B0-CA83-48AC-B365-E070EBD4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514725" y="1952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6A979B-49F2-4573-A86B-5B3AF7D9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1575" y="20002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B0CA48-07A2-49E8-AF31-12145B1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562600" y="1952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A4110E-9350-4A00-BECA-24144E6C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20002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B90D7F-DF9D-417E-9F97-246318EF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610475" y="1952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2958E0-8EA7-454C-81F7-D00985AE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5242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0D4D6C-0FF5-41F7-904A-11507116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BE5DD1-AC51-44CC-B6A6-66A2A540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81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FDD118-D067-4B97-9C23-4BE2935F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386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System checks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slot capacity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30A644-C315-461C-89C1-EF8D6C4C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B94F5F-F478-4E04-857A-7E8DEA0E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08F9F6-2A5A-4D1F-AA32-BE29AFB7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181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DB2ADD-0B11-41BE-AE3A-DA65A78E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386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Create booking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invoice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E73B67-6248-4C4D-B172-FFB64E21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242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BD6B42-AA71-498F-9D11-1FFAFA44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512949-3653-4D0E-BF68-BF6D17E5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81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E21016-E24D-4074-BD00-67013AF2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386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Pay by SePay QR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VNPay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3AC8C0-66DA-4D58-8320-A2A542F4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E6839E-C9CE-4A52-B89C-BFCA7845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38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EF946A-AB5F-42A7-8F16-826C900A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181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418CC5-F2A6-474F-B311-5C0B5FFE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0386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Confirm booking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notify user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C2FFB0-5FD2-42E2-98BE-B29F620A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72475" y="2438400"/>
            <a:ext cx="1076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601709-C2F2-4FB5-AB7F-A9615069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31532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C0BE73-FFA1-4FFF-8C6F-F3DF3839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667625" y="39528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85660A-9940-4A95-B721-A7BDE596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972300" y="3905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D00198-F444-41CF-BA86-545923A7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619750" y="39528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040407-9A06-4E3D-B693-5C7FC2D6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4924425" y="3905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674AB1-30DF-4CA9-B40D-8B87F840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571875" y="3952875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96D6E8-C28B-41CD-8AAC-FF8A7AA2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876550" y="3905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4641AC-7937-4D52-A4E7-BC9862F0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72125"/>
            <a:ext cx="809625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350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Slot capacity rule: close a time slot when the configured vehicle limit is reached.</a:t>
            </a:r>
          </a:p>
        </p:txBody>
      </p:sp>
    </p:spTree>
    <p:extLst>
      <p:ext uri="{BB962C8B-B14F-4D97-AF65-F5344CB8AC3E}">
        <p14:creationId xmlns:p14="http://schemas.microsoft.com/office/powerpoint/2010/main" val="2348365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F18C32-C6B4-4480-BC2B-97B61834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BFA50-CFDF-4D86-9036-13688BEF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6. Flows | Staff Wash Session &amp; Live Updates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224EB-9A74-41BC-BBC5-52E5A2FD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48F78-B8FC-466F-9B41-CB378B43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971550"/>
            <a:ext cx="552450" cy="1809750"/>
          </a:xfrm>
          <a:prstGeom xmlns:a="http://schemas.openxmlformats.org/drawingml/2006/main" prst="rect">
            <a:avLst/>
          </a:prstGeom>
          <a:ln xmlns:a="http://schemas.openxmlformats.org/drawingml/2006/main" w="28575">
            <a:solidFill>
              <a:srgbClr val="FF5A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63481-F1E6-4421-AA7C-0616DAFF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3350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A4D1D-CC39-44EE-BB13-4B7941CF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92F73-43E0-46D2-A7D1-F6247684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527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BEE61-63D0-412A-9254-67BF673B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84785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 arrives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with booking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499F4-EF19-4F1D-8B96-17355B1B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333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CD49C-FDF5-4587-9ED4-0DB49425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088FE-035E-43F1-9823-36BD6A73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527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3D473-286E-44B1-B737-B846F5AF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4785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97572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searches booking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or vehicle plate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520C7-2AB6-41C9-9F72-2203DEDD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3350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6A171-2276-4D8C-A4E7-8463605E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550EF8-7E1D-4295-BDFD-47A90451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27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477D6-A3F3-41E9-A890-0B029DDA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47850"/>
            <a:ext cx="1524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Backend validates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booking &amp; vehicle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050B0-091B-459B-BA88-E0145806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33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E93DE0-3211-4906-BA1D-3E6B441A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4EEE8-F9D9-4CCE-948F-C9FA1376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52742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00F7C-2DB6-43B6-B627-2A347987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84785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Check-in creates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 session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B086C-B511-4F4A-BF82-4F63D0F5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1762125"/>
            <a:ext cx="82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B4401-9842-4907-AE78-D1B37080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3705225" y="1714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8E6816-A4CA-44E3-BB53-C1F6EDDE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176212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E444B2-B042-48F3-AC34-114DA2BF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6276975" y="1714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EE0027-EA8C-4131-8EA6-CF521E19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1762125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6386C-FAEB-48E1-9513-BB1F28D8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8705850" y="1714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D2AAAE-7280-4EC2-AF55-3F1E5035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A5F1ED-FCC0-427B-86B4-064724C6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13B8"/>
          </a:solidFill>
          <a:ln xmlns:a="http://schemas.openxmlformats.org/drawingml/2006/main" w="0">
            <a:solidFill>
              <a:srgbClr val="8613B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70BC8F-4352-4C07-8963-01AD835B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8EA552-0C05-459E-B3C1-E6125EC1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2910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Staff updates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wash progress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11711-AFCF-4A07-9B80-7F969D3C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1695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0697DD-EDA8-4BA9-BFF1-1E358311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D7DEA8-BF60-4D7E-8B1C-743147F9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9C8129-2F97-42AC-9D8A-DDA7F63E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29100"/>
            <a:ext cx="1524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WebSocket pushes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status update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0077FC-EC6F-4A59-8607-ACBD3A9F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14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CC093A-CC8B-42E0-AF09-405DC570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BFD3"/>
          </a:solidFill>
          <a:ln xmlns:a="http://schemas.openxmlformats.org/drawingml/2006/main" w="0">
            <a:solidFill>
              <a:srgbClr val="08BFD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C8DA01-697D-49BA-A9C4-B05AB98A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3AC931-2D13-409B-9A11-CCAC305A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229100"/>
            <a:ext cx="14478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Customer/admin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see live status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411BC1-C664-4706-B977-BC49FAB1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14750"/>
            <a:ext cx="140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050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CAACC9-F868-422E-9539-0847DED6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29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ABBD5D-626C-4F89-8985-76103807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908679"/>
            <a:ext cx="361950" cy="199073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200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FD9283-970E-4631-B090-94CDFD30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229100"/>
            <a:ext cx="12382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72155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Completion closes session</a:t>
            </a:r>
          </a:p>
          <a:p xmlns:a="http://schemas.openxmlformats.org/drawingml/2006/main">
            <a:pPr algn="ctr">
              <a:def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99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and awards points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416DA6-56B0-4401-B41E-88042F9B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72625" y="2200275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B7A479-DE43-4474-9348-FA32E9C2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9515475" y="3657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6133CA-3712-4273-B913-6B4BA87C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763000" y="4143375"/>
            <a:ext cx="733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D5261B2-F353-46BF-8EAE-8C20DCFD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7972425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DD2F22-E64E-4A8F-89DA-C1A5E9D2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334125" y="41433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80602F-C0BB-489D-9F77-56C19E0C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5324475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0087A2-BF9C-4173-BC56-87018B6B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762375" y="4143375"/>
            <a:ext cx="82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FFF726-FAF1-4135-87CB-5C1FD733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00000">
            <a:off x="2876550" y="4095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50505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083924-60F6-4D0F-8161-DC9C4770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4995"/>
          </a:bodyPr>
          <a:lstStyle xmlns:a="http://schemas.openxmlformats.org/drawingml/2006/main"/>
          <a:p xmlns:a="http://schemas.openxmlformats.org/drawingml/2006/main">
            <a:pPr algn="ctr">
              <a:defRPr sz="1313" b="1" i="0">
                <a:solidFill>
                  <a:srgbClr val="475569"/>
                </a:solidFill>
                <a:latin typeface="Poppins"/>
                <a:ea typeface="Poppins"/>
                <a:cs typeface="Poppins"/>
              </a:defRPr>
            </a:pPr>
            <a:r>
              <a:rPr sz="1313" b="1" i="0">
                <a:solidFill>
                  <a:srgbClr val="475569"/>
                </a:solidFill>
                <a:latin typeface="Poppins"/>
                <a:ea typeface="Poppins"/>
                <a:cs typeface="Poppins"/>
              </a:rPr>
              <a:t>Works with the current system model: booking, vehicle, staff assignment, wash session and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12527862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44B16-4090-4AFC-8A88-D695F155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109347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32E6D-A424-4C2D-BCE5-03538C0D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23925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2625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C6EFC-2F44-4880-9A13-A99D7467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57225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solidFill>
              <a:srgbClr val="77777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596F5-730B-4D64-B1E5-3770A06D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-1095375"/>
            <a:ext cx="1809750" cy="180975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80808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57E17-75A0-43EC-85AC-4BFC44B7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-42862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8A8A"/>
          </a:solidFill>
          <a:ln xmlns:a="http://schemas.openxmlformats.org/drawingml/2006/main" w="0">
            <a:solidFill>
              <a:srgbClr val="8A8A8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45B74-AB24-41F2-B2D4-FF392713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19750"/>
            <a:ext cx="114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4D4"/>
          </a:solidFill>
          <a:ln xmlns:a="http://schemas.openxmlformats.org/drawingml/2006/main" w="0">
            <a:solidFill>
              <a:srgbClr val="D4D4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1B3EC-EC37-47D5-AC84-4CF89207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482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D6DAE-AFF8-4F0E-8B77-CDB4E88C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0331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!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F393D-20D7-41ED-A749-3FBA543B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530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1B3D9-2F22-4A35-B101-E06D5A9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08067"/>
            <a:ext cx="704850" cy="387668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1554" b="1" i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!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90412-107B-4725-863C-E3519BFF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32385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Technical Limitations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09E47-8816-46DF-9ABB-E616BD25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6286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9871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Production behavior depends on stable backend, database, and network availability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9B0D3-0C9F-4010-A298-736D62C1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38400"/>
            <a:ext cx="6286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Live updates require a stable WebSocket connection and reconnect handling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BC112-E8B3-4B3B-B81A-B148FA5C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6286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Slot holds, booking capacity, and server time must remain synchronized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86746-7D65-4DE2-810D-CF28E497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86100"/>
            <a:ext cx="62865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Payment confirmation depends on SePay webhooks and VNPay callbacks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F6E49-4609-416E-9D4F-415EB19E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14750"/>
            <a:ext cx="3429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50505"/>
                </a:solidFill>
                <a:latin typeface="Poppins"/>
                <a:ea typeface="Poppins"/>
                <a:cs typeface="Poppins"/>
              </a:defRPr>
            </a:pPr>
            <a:r>
              <a:rPr sz="1800" b="1" i="0">
                <a:solidFill>
                  <a:srgbClr val="050505"/>
                </a:solidFill>
                <a:latin typeface="Poppins"/>
                <a:ea typeface="Poppins"/>
                <a:cs typeface="Poppins"/>
              </a:rPr>
              <a:t>Operational Limitations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83159-9FD0-4D3D-941E-2B5BD7AD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14800"/>
            <a:ext cx="6572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Staff recommendations depend on accurate assignments and session status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FAF90-334E-4B70-A5C7-2882E038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38650"/>
            <a:ext cx="6572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Reports and ratings depend on complete booking and staff assignment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DC6DC-0B73-4BC2-B07F-0306F20C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65722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50505"/>
                </a:solidFill>
                <a:latin typeface="Lato"/>
                <a:ea typeface="Lato"/>
                <a:cs typeface="Lato"/>
              </a:defRPr>
            </a:pPr>
            <a:r>
              <a:rPr sz="1350" b="0" i="0">
                <a:solidFill>
                  <a:srgbClr val="050505"/>
                </a:solidFill>
                <a:latin typeface="Lato"/>
                <a:ea typeface="Lato"/>
                <a:cs typeface="Lato"/>
              </a:rPr>
              <a:t>• The repo has payment QR, but no hardware QR gate/scanner check-in workflow</a:t>
            </a:r>
          </a:p>
        </p:txBody>
      </p:sp>
    </p:spTree>
    <p:extLst>
      <p:ext uri="{BB962C8B-B14F-4D97-AF65-F5344CB8AC3E}">
        <p14:creationId xmlns:p14="http://schemas.microsoft.com/office/powerpoint/2010/main" val="88013496"/>
      </p:ext>
    </p:extLst>
  </p:cSld>
</p:sld>
</file>

<file path=ppt/theme/theme1.xml><?xml version="1.0" encoding="utf-8"?>
<a:theme xmlns:a="http://schemas.openxmlformats.org/drawingml/2006/main" name="ChatGPT">
  <a:themeElements>
    <a:clrScheme name="Aura AutoWash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8613B8"/>
      </a:accent1>
      <a:accent2>
        <a:srgbClr val="08BFD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ura AutoWas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2026-07-27T03:38:46.5520000Z</dcterms:created>
  <dcterms:modified xsi:type="dcterms:W3CDTF">2026-07-27T03:38:46.5520000Z</dcterms:modified>
</coreProperties>
</file>