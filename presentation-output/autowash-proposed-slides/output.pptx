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eda2fd407f4a63" /><Relationship Type="http://schemas.openxmlformats.org/officeDocument/2006/relationships/extended-properties" Target="/docProps/app.xml" Id="R1681b51731bc4750" /><Relationship Type="http://schemas.openxmlformats.org/officeDocument/2006/relationships/officeDocument" Target="/ppt/presentation.xml" Id="Rde936826717b41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d39bfa66304316"/>
  </p:sldMasterIdLst>
  <p:notesMasterIdLst>
    <p:notesMasterId xmlns:r="http://schemas.openxmlformats.org/officeDocument/2006/relationships" r:id="Rdf6994fba04e43dc"/>
  </p:notesMasterIdLst>
  <p:sldIdLst>
    <p:sldId xmlns:r="http://schemas.openxmlformats.org/officeDocument/2006/relationships" id="256" r:id="R10ba38e00a594dac"/>
    <p:sldId xmlns:r="http://schemas.openxmlformats.org/officeDocument/2006/relationships" id="257" r:id="Rdcc6beb6e855463f"/>
    <p:sldId xmlns:r="http://schemas.openxmlformats.org/officeDocument/2006/relationships" id="258" r:id="R0bfcadecab344367"/>
    <p:sldId xmlns:r="http://schemas.openxmlformats.org/officeDocument/2006/relationships" id="259" r:id="R6da4210795fb4242"/>
    <p:sldId xmlns:r="http://schemas.openxmlformats.org/officeDocument/2006/relationships" id="260" r:id="R7b7d3133c8134403"/>
    <p:sldId xmlns:r="http://schemas.openxmlformats.org/officeDocument/2006/relationships" id="261" r:id="R736bbdd8b4124905"/>
    <p:sldId xmlns:r="http://schemas.openxmlformats.org/officeDocument/2006/relationships" id="262" r:id="Rb11bfb15a599433b"/>
    <p:sldId xmlns:r="http://schemas.openxmlformats.org/officeDocument/2006/relationships" id="263" r:id="R635ff133edb14d1e"/>
    <p:sldId xmlns:r="http://schemas.openxmlformats.org/officeDocument/2006/relationships" id="264" r:id="R6737d235a13f4156"/>
    <p:sldId xmlns:r="http://schemas.openxmlformats.org/officeDocument/2006/relationships" id="265" r:id="R2cd050cf5004491c"/>
    <p:sldId xmlns:r="http://schemas.openxmlformats.org/officeDocument/2006/relationships" id="266" r:id="Rbb8335fdcf404ed7"/>
    <p:sldId xmlns:r="http://schemas.openxmlformats.org/officeDocument/2006/relationships" id="267" r:id="R5e77db8574cf43fb"/>
    <p:sldId xmlns:r="http://schemas.openxmlformats.org/officeDocument/2006/relationships" id="268" r:id="Rbee3d790927049fa"/>
    <p:sldId xmlns:r="http://schemas.openxmlformats.org/officeDocument/2006/relationships" id="269" r:id="Rad4743c185b84244"/>
    <p:sldId xmlns:r="http://schemas.openxmlformats.org/officeDocument/2006/relationships" id="270" r:id="R9cb57760189841fd"/>
    <p:sldId xmlns:r="http://schemas.openxmlformats.org/officeDocument/2006/relationships" id="271" r:id="Ree049c98bc5e44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60ee5e3b0d473b" /><Relationship Type="http://schemas.openxmlformats.org/officeDocument/2006/relationships/slideMaster" Target="/ppt/slideMasters/slideMaster1.xml" Id="Re1d39bfa66304316" /><Relationship Type="http://schemas.openxmlformats.org/officeDocument/2006/relationships/notesMaster" Target="/ppt/notesMasters/notesMaster1.xml" Id="Rdf6994fba04e43dc" /><Relationship Type="http://schemas.openxmlformats.org/officeDocument/2006/relationships/presProps" Target="/ppt/presProps.xml" Id="Rd3345072a1814f7a" /><Relationship Type="http://schemas.openxmlformats.org/officeDocument/2006/relationships/tableStyles" Target="/ppt/tableStyles.xml" Id="R15126fda72974aaa" /><Relationship Type="http://schemas.openxmlformats.org/officeDocument/2006/relationships/slide" Target="/ppt/slides/slide1.xml" Id="R10ba38e00a594dac" /><Relationship Type="http://schemas.openxmlformats.org/officeDocument/2006/relationships/slide" Target="/ppt/slides/slide2.xml" Id="Rdcc6beb6e855463f" /><Relationship Type="http://schemas.openxmlformats.org/officeDocument/2006/relationships/slide" Target="/ppt/slides/slide3.xml" Id="R0bfcadecab344367" /><Relationship Type="http://schemas.openxmlformats.org/officeDocument/2006/relationships/slide" Target="/ppt/slides/slide4.xml" Id="R6da4210795fb4242" /><Relationship Type="http://schemas.openxmlformats.org/officeDocument/2006/relationships/slide" Target="/ppt/slides/slide5.xml" Id="R7b7d3133c8134403" /><Relationship Type="http://schemas.openxmlformats.org/officeDocument/2006/relationships/slide" Target="/ppt/slides/slide6.xml" Id="R736bbdd8b4124905" /><Relationship Type="http://schemas.openxmlformats.org/officeDocument/2006/relationships/slide" Target="/ppt/slides/slide7.xml" Id="Rb11bfb15a599433b" /><Relationship Type="http://schemas.openxmlformats.org/officeDocument/2006/relationships/slide" Target="/ppt/slides/slide8.xml" Id="R635ff133edb14d1e" /><Relationship Type="http://schemas.openxmlformats.org/officeDocument/2006/relationships/slide" Target="/ppt/slides/slide9.xml" Id="R6737d235a13f4156" /><Relationship Type="http://schemas.openxmlformats.org/officeDocument/2006/relationships/slide" Target="/ppt/slides/slide10.xml" Id="R2cd050cf5004491c" /><Relationship Type="http://schemas.openxmlformats.org/officeDocument/2006/relationships/slide" Target="/ppt/slides/slide11.xml" Id="Rbb8335fdcf404ed7" /><Relationship Type="http://schemas.openxmlformats.org/officeDocument/2006/relationships/slide" Target="/ppt/slides/slide12.xml" Id="R5e77db8574cf43fb" /><Relationship Type="http://schemas.openxmlformats.org/officeDocument/2006/relationships/slide" Target="/ppt/slides/slide13.xml" Id="Rbee3d790927049fa" /><Relationship Type="http://schemas.openxmlformats.org/officeDocument/2006/relationships/slide" Target="/ppt/slides/slide14.xml" Id="Rad4743c185b84244" /><Relationship Type="http://schemas.openxmlformats.org/officeDocument/2006/relationships/slide" Target="/ppt/slides/slide15.xml" Id="R9cb57760189841fd" /><Relationship Type="http://schemas.openxmlformats.org/officeDocument/2006/relationships/slide" Target="/ppt/slides/slide16.xml" Id="Ree049c98bc5e44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988325041145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ura AutoWash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613B8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AutoWas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b82bb198fc4174" /><Relationship Type="http://schemas.openxmlformats.org/officeDocument/2006/relationships/notesMaster" Target="/ppt/notesMasters/notesMaster1.xml" Id="Rb12a0d0e5ad249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bd4f5dedd649f4" /><Relationship Type="http://schemas.openxmlformats.org/officeDocument/2006/relationships/notesMaster" Target="/ppt/notesMasters/notesMaster1.xml" Id="Reddf78b18a6b4b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f3956b398f4b2d" /><Relationship Type="http://schemas.openxmlformats.org/officeDocument/2006/relationships/notesMaster" Target="/ppt/notesMasters/notesMaster1.xml" Id="R03f59933fd144e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2289c083db42bc" /><Relationship Type="http://schemas.openxmlformats.org/officeDocument/2006/relationships/notesMaster" Target="/ppt/notesMasters/notesMaster1.xml" Id="R3d6f3223060e44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4b3d458896431e" /><Relationship Type="http://schemas.openxmlformats.org/officeDocument/2006/relationships/notesMaster" Target="/ppt/notesMasters/notesMaster1.xml" Id="Rccf753fc9c5d45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a48bbe244b4d99" /><Relationship Type="http://schemas.openxmlformats.org/officeDocument/2006/relationships/notesMaster" Target="/ppt/notesMasters/notesMaster1.xml" Id="R86b4dcfa56fa42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4209d3182a4961" /><Relationship Type="http://schemas.openxmlformats.org/officeDocument/2006/relationships/notesMaster" Target="/ppt/notesMasters/notesMaster1.xml" Id="Rb6ca5731bb934c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9efc15a03045c5" /><Relationship Type="http://schemas.openxmlformats.org/officeDocument/2006/relationships/notesMaster" Target="/ppt/notesMasters/notesMaster1.xml" Id="R6881f9dee56f4b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f8b9af78424946" /><Relationship Type="http://schemas.openxmlformats.org/officeDocument/2006/relationships/notesMaster" Target="/ppt/notesMasters/notesMaster1.xml" Id="R6161344370f14d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84f7312ce84457" /><Relationship Type="http://schemas.openxmlformats.org/officeDocument/2006/relationships/notesMaster" Target="/ppt/notesMasters/notesMaster1.xml" Id="R790216d135b949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2602bc15a045aa" /><Relationship Type="http://schemas.openxmlformats.org/officeDocument/2006/relationships/notesMaster" Target="/ppt/notesMasters/notesMaster1.xml" Id="R1fb3b90923c545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6980e33acd4ccf" /><Relationship Type="http://schemas.openxmlformats.org/officeDocument/2006/relationships/notesMaster" Target="/ppt/notesMasters/notesMaster1.xml" Id="R5b2691046ff741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403e9713674033" /><Relationship Type="http://schemas.openxmlformats.org/officeDocument/2006/relationships/notesMaster" Target="/ppt/notesMasters/notesMaster1.xml" Id="Rf630ea20d7094f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3aa93062af4777" /><Relationship Type="http://schemas.openxmlformats.org/officeDocument/2006/relationships/notesMaster" Target="/ppt/notesMasters/notesMaster1.xml" Id="Rc62cd57f1e7c46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063a882ac634aef" /><Relationship Type="http://schemas.openxmlformats.org/officeDocument/2006/relationships/notesMaster" Target="/ppt/notesMasters/notesMaster1.xml" Id="R78c31be5bfd04ff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5b89d1e359429b" /><Relationship Type="http://schemas.openxmlformats.org/officeDocument/2006/relationships/notesMaster" Target="/ppt/notesMasters/notesMaster1.xml" Id="R75fe678996c24c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2118272c4c40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6a2997c39143f4" /><Relationship Type="http://schemas.openxmlformats.org/officeDocument/2006/relationships/slideLayout" Target="/ppt/slideLayouts/slideLayout1.xml" Id="Rbcad8995f1184c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ad8995f1184c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ura AutoWash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613B8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AutoWas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1b69bb0314f08" /><Relationship Type="http://schemas.openxmlformats.org/officeDocument/2006/relationships/notesSlide" Target="/ppt/notesSlides/notesSlide1.xml" Id="R7ddf8844671d44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f9fe088d34edf" /><Relationship Type="http://schemas.openxmlformats.org/officeDocument/2006/relationships/notesSlide" Target="/ppt/notesSlides/notesSlide2.xml" Id="Rb0e3051dd04744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6ced78b51443f" /><Relationship Type="http://schemas.openxmlformats.org/officeDocument/2006/relationships/notesSlide" Target="/ppt/notesSlides/notesSlide3.xml" Id="R2d48de54f9df4c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9ccb51f1d4f28" /><Relationship Type="http://schemas.openxmlformats.org/officeDocument/2006/relationships/notesSlide" Target="/ppt/notesSlides/notesSlide4.xml" Id="R98ac1e93ca0842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a433eee054199" /><Relationship Type="http://schemas.openxmlformats.org/officeDocument/2006/relationships/notesSlide" Target="/ppt/notesSlides/notesSlide5.xml" Id="Rc115b7c88ce64c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f4a799b80406c" /><Relationship Type="http://schemas.openxmlformats.org/officeDocument/2006/relationships/notesSlide" Target="/ppt/notesSlides/notesSlide6.xml" Id="R6a05dc46a33842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cb67721fb44c8" /><Relationship Type="http://schemas.openxmlformats.org/officeDocument/2006/relationships/notesSlide" Target="/ppt/notesSlides/notesSlide7.xml" Id="R0fd00f4712e948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b0b54f19147b4" /><Relationship Type="http://schemas.openxmlformats.org/officeDocument/2006/relationships/notesSlide" Target="/ppt/notesSlides/notesSlide8.xml" Id="Rf5ea6e013ae842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cb7bdcb1d4b5a" /><Relationship Type="http://schemas.openxmlformats.org/officeDocument/2006/relationships/notesSlide" Target="/ppt/notesSlides/notesSlide9.xml" Id="Rc2ba78ef11e544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cf5746b35419b" /><Relationship Type="http://schemas.openxmlformats.org/officeDocument/2006/relationships/notesSlide" Target="/ppt/notesSlides/notesSlide10.xml" Id="Rc60553abd59047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f634431174003" /><Relationship Type="http://schemas.openxmlformats.org/officeDocument/2006/relationships/notesSlide" Target="/ppt/notesSlides/notesSlide11.xml" Id="R57e3ddbc5c8144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f19b58b124843" /><Relationship Type="http://schemas.openxmlformats.org/officeDocument/2006/relationships/notesSlide" Target="/ppt/notesSlides/notesSlide12.xml" Id="Rd9a98e8fd18641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6d001ce384ae0" /><Relationship Type="http://schemas.openxmlformats.org/officeDocument/2006/relationships/notesSlide" Target="/ppt/notesSlides/notesSlide13.xml" Id="Re47af5c146834f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3e86f95c84d96" /><Relationship Type="http://schemas.openxmlformats.org/officeDocument/2006/relationships/notesSlide" Target="/ppt/notesSlides/notesSlide14.xml" Id="Rc517d631ac3348c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20b02c4cb4751" /><Relationship Type="http://schemas.openxmlformats.org/officeDocument/2006/relationships/notesSlide" Target="/ppt/notesSlides/notesSlide15.xml" Id="R549e7d200c8044d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3230bc8984bc2" /><Relationship Type="http://schemas.openxmlformats.org/officeDocument/2006/relationships/notesSlide" Target="/ppt/notesSlides/notesSlide16.xml" Id="R5cc249e744834b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893D3-6D1D-4840-9558-C179CDBA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B5D99-F95A-4B55-8B9F-DDC14C1F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3. Proposed Solutions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1CA66-C527-4AAF-A25A-505DCE1A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55763-2FF1-457E-9AFF-BB389EEE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"/>
            <a:ext cx="4762500" cy="381000"/>
          </a:xfrm>
          <a:prstGeom xmlns:a="http://schemas.openxmlformats.org/drawingml/2006/main" prst="rect">
            <a:avLst/>
          </a:prstGeom>
          <a:ln xmlns:a="http://schemas.openxmlformats.org/drawingml/2006/main" w="28575">
            <a:solidFill>
              <a:srgbClr val="FF5A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22E89-A3BC-4F62-9F06-70D08707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666750" cy="1143000"/>
          </a:xfrm>
          <a:prstGeom xmlns:a="http://schemas.openxmlformats.org/drawingml/2006/main" prst="rect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BA7CF-6C1F-4546-B0D7-D4C0A0C6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48375"/>
            <a:ext cx="2286000" cy="647700"/>
          </a:xfrm>
          <a:prstGeom xmlns:a="http://schemas.openxmlformats.org/drawingml/2006/main" prst="rect">
            <a:avLst/>
          </a:prstGeom>
          <a:ln xmlns:a="http://schemas.openxmlformats.org/drawingml/2006/main" w="28575">
            <a:solidFill>
              <a:srgbClr val="FF5A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169AF-0254-43CE-AAAD-A9BCAC31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1747838"/>
            <a:ext cx="685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70871-942A-436D-8EAE-021EB564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409700"/>
            <a:ext cx="666750" cy="666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E38D0-E3A9-4145-99C1-B2882B77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533525"/>
            <a:ext cx="6667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5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EA0B1-2113-4F4D-8995-3ED62CE0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33600"/>
            <a:ext cx="266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F234F-A968-46C7-A286-78E26315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76475"/>
            <a:ext cx="2438400" cy="5238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5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Smart Booking</a:t>
            </a:r>
          </a:p>
          <a:p xmlns:a="http://schemas.openxmlformats.org/drawingml/2006/main">
            <a:pPr algn="ctr">
              <a:defRPr sz="15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5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&amp; Service Discovery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DD4FC-0EA3-41A8-8A5A-423052D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52800"/>
            <a:ext cx="2428875" cy="1695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Browse packages, combos, and individual services</a:t>
            </a:r>
          </a:p>
          <a:p xmlns:a="http://schemas.openxmlformats.org/drawingml/2006/main">
            <a:pPr algn="l">
              <a:defRPr sz="12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Check available time slots before booking</a:t>
            </a:r>
          </a:p>
          <a:p xmlns:a="http://schemas.openxmlformats.org/drawingml/2006/main">
            <a:pPr algn="l">
              <a:defRPr sz="12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Register and manage vehicles</a:t>
            </a:r>
          </a:p>
          <a:p xmlns:a="http://schemas.openxmlformats.org/drawingml/2006/main">
            <a:pPr algn="l">
              <a:defRPr sz="12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Apply vouchers or loyalty 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9E45B-BDF5-4C9B-B5FD-570382D4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09700"/>
            <a:ext cx="666750" cy="666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89F66-7816-4BD3-B0E7-63D2DF08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33525"/>
            <a:ext cx="6667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5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93260-E191-468F-86FE-BDAD1813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266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49892-5A79-431F-87B5-6B56D804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76475"/>
            <a:ext cx="2438400" cy="5238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5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Seamless Customer</a:t>
            </a:r>
          </a:p>
          <a:p xmlns:a="http://schemas.openxmlformats.org/drawingml/2006/main">
            <a:pPr algn="ctr">
              <a:defRPr sz="15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5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Experience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61645-A7F7-45BE-9FD2-D9E157A5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2428875" cy="1695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Create bookings and receive notifications</a:t>
            </a:r>
          </a:p>
          <a:p xmlns:a="http://schemas.openxmlformats.org/drawingml/2006/main">
            <a:pPr algn="l">
              <a:defRPr sz="12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Track wash progress and booking status</a:t>
            </a:r>
          </a:p>
          <a:p xmlns:a="http://schemas.openxmlformats.org/drawingml/2006/main">
            <a:pPr algn="l">
              <a:defRPr sz="12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View service history and invoices</a:t>
            </a:r>
          </a:p>
          <a:p xmlns:a="http://schemas.openxmlformats.org/drawingml/2006/main">
            <a:pPr algn="l">
              <a:defRPr sz="12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Rate completed bookings and staff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9DFA3-AB45-49F9-8926-AE93564C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09700"/>
            <a:ext cx="666750" cy="666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D4AE93-C5A2-4D75-AA0A-31CBBA28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33525"/>
            <a:ext cx="66675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5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74141-ACD9-4894-8DD9-A94B0EF8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33600"/>
            <a:ext cx="266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CEFE0D-DD62-4424-8D58-DA5A67FF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76475"/>
            <a:ext cx="2438400" cy="52387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5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Centralized Operations</a:t>
            </a:r>
          </a:p>
          <a:p xmlns:a="http://schemas.openxmlformats.org/drawingml/2006/main">
            <a:pPr algn="ctr">
              <a:defRPr sz="15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5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&amp; Management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4FB4CC-39DD-4AE1-AA58-14880C1C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52800"/>
            <a:ext cx="2428875" cy="1695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Staff check-in and wash-session workflow</a:t>
            </a:r>
          </a:p>
          <a:p xmlns:a="http://schemas.openxmlformats.org/drawingml/2006/main">
            <a:pPr algn="l">
              <a:defRPr sz="12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Manager staff assignment and workload balancing</a:t>
            </a:r>
          </a:p>
          <a:p xmlns:a="http://schemas.openxmlformats.org/drawingml/2006/main">
            <a:pPr algn="l">
              <a:defRPr sz="12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Admin dashboards, reports, promotions, and tiers</a:t>
            </a:r>
          </a:p>
          <a:p xmlns:a="http://schemas.openxmlformats.org/drawingml/2006/main">
            <a:pPr algn="l">
              <a:defRPr sz="12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Real-time updates via WebSocket events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243CDE-BC2D-43C8-BE34-52F5AFC5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57800"/>
            <a:ext cx="781050" cy="781050"/>
          </a:xfrm>
          <a:prstGeom xmlns:a="http://schemas.openxmlformats.org/drawingml/2006/main" prst="ellipse">
            <a:avLst/>
          </a:prstGeom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6241D0-C4B8-4E43-BFEB-1523BA42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6007619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9822C-9D45-477C-9E82-08F652C2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BB357-0C22-4FAA-B2F3-533F66C5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3. Proposed Solutions | Tech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566F6-2257-4BA2-9B5D-B4E95D31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B143B-9616-475A-8376-F232F43D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8150"/>
            <a:ext cx="1428750" cy="1428750"/>
          </a:xfrm>
          <a:prstGeom xmlns:a="http://schemas.openxmlformats.org/drawingml/2006/main" prst="ellipse">
            <a:avLst/>
          </a:prstGeom>
          <a:ln xmlns:a="http://schemas.openxmlformats.org/drawingml/2006/main" w="28575">
            <a:solidFill>
              <a:srgbClr val="05050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98A68-22F8-4804-BC1D-22528699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000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505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C1CA1-AEAC-4D69-B1CA-EDAF0C93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81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5A"/>
          </a:solidFill>
          <a:ln xmlns:a="http://schemas.openxmlformats.org/drawingml/2006/main" w="0">
            <a:solidFill>
              <a:srgbClr val="FFE0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B454D-323B-4A39-91D4-3958BF9C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52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EC8BF-C42E-40E8-A911-EB4772CF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6074"/>
            <a:ext cx="742950" cy="40862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999EA-A61B-4B8B-9807-F752B437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14525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6462C-1BA6-4BDF-9F2E-545DBFDF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47925"/>
            <a:ext cx="31432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Java 21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Spring Boot 3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REST API + WebSocket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JWT Security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98B39-EE27-4B1A-98AA-25C4F6A6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F03AF-5090-4FA0-8793-C1B3CC16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6074"/>
            <a:ext cx="742950" cy="40862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42FA5-6D1B-4F69-A245-53391824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14525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9E4EA-C874-492A-BB9E-C6FD7D2C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47925"/>
            <a:ext cx="31432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PostgreSQL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Spring Data JPA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Flyway migrations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H2 for test 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7B7FA-0EA4-4449-A5D5-C28DF76B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132F4-9862-47E7-834E-27F3CCEE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68699"/>
            <a:ext cx="742950" cy="40862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77292-F2A4-41CA-9D7F-4508F01F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6715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Frontend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6B80D-5570-4B60-8395-64AAE89A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31432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Next.js 14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React + TypeScript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Tailwind CSS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React Query + Axios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F28C09-58E7-47A8-95E7-5AD5AA65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020AD2-B0DA-4A07-814C-355A8427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68699"/>
            <a:ext cx="742950" cy="40862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25833D-DC5D-465B-8BC0-0360FCBA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6715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Integrations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D431D-1005-423D-91D2-B7D2FAB0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00550"/>
            <a:ext cx="31432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VNPay payments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Resend email/OTP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AWS S3 storage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Swagger OpenAPI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B994F0-5470-446C-8EE8-38733241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9026888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827A4A8-D8CA-4C98-993C-3D5B5C3B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ACBA0-5319-473F-A45B-15B41F5C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3. Proposed Solutions |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806B4-2FC4-4121-B636-434A7308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0BD8E-D287-48C0-9A41-C2AEDBA0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29250"/>
            <a:ext cx="1428750" cy="1428750"/>
          </a:xfrm>
          <a:prstGeom xmlns:a="http://schemas.openxmlformats.org/drawingml/2006/main" prst="ellipse">
            <a:avLst/>
          </a:prstGeom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C8406-930A-40A1-9353-4648138F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019300"/>
            <a:ext cx="685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3EB62-AE56-4C5F-9429-73B6E8E3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370A9-2442-4835-BA25-E6D9865A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45539"/>
            <a:ext cx="552450" cy="30384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1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1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DF72B-2AF2-4ADA-920F-88133E45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00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169FE-E944-4442-B280-7CDE9D07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28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18DCB-0BEB-48F2-B635-1F0C45AF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0414"/>
            <a:ext cx="552450" cy="30384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1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1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529F6-B7F3-4B0D-8DC3-E2D87CF0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19425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00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Console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57680-243F-4D90-A64C-B0FB28F6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84D51-C840-4AE4-AE03-F230E061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55289"/>
            <a:ext cx="552450" cy="30384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1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1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A0EFF-D2CF-4C09-9EE4-CF8EE77F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24300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00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Manager/Admin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AA31C-B633-4CCC-B8C8-27136049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52550"/>
            <a:ext cx="6000750" cy="3714750"/>
          </a:xfrm>
          <a:prstGeom xmlns:a="http://schemas.openxmlformats.org/drawingml/2006/main" prst="rect">
            <a:avLst/>
          </a:prstGeom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673DFF-EA41-4B6C-993A-01388B10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66850"/>
            <a:ext cx="2857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Cloud / Deployment Environment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E48DA-12E0-4F36-818C-C8BE1FDE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47875"/>
            <a:ext cx="114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D0491-576C-4059-85BC-1F17B6A3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71700"/>
            <a:ext cx="8572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Next.js</a:t>
            </a:r>
          </a:p>
          <a:p xmlns:a="http://schemas.openxmlformats.org/drawingml/2006/main">
            <a:pPr algn="ctr">
              <a:def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Frontend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1504F0-D0F7-4DC7-8701-06E61B3A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47875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4F60C0-66C0-473D-8D3D-A581A8DC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71700"/>
            <a:ext cx="10477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Spring Boot</a:t>
            </a:r>
          </a:p>
          <a:p xmlns:a="http://schemas.openxmlformats.org/drawingml/2006/main">
            <a:pPr algn="ctr">
              <a:def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REST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A6945D-EC1F-4ECE-AB4C-DAF58732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0375"/>
            <a:ext cx="1809750" cy="1428750"/>
          </a:xfrm>
          <a:prstGeom xmlns:a="http://schemas.openxmlformats.org/drawingml/2006/main" prst="rect">
            <a:avLst/>
          </a:prstGeom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4CAED0-6E27-40D3-A9A5-73A96DA6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43250"/>
            <a:ext cx="1333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5881E4-4CB3-47F9-BBDC-C631AE6E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52775"/>
            <a:ext cx="1095375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Auth 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CC0D4B-FB47-47E6-AABC-6833FA7A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33750"/>
            <a:ext cx="1333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CF7DD3-ACCC-41A7-A120-3EC2426A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43275"/>
            <a:ext cx="1095375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Booking 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C3B970-2129-4438-BD1D-8AAEC677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24250"/>
            <a:ext cx="1333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19F290-F5B5-4003-AD9D-BC68FCBE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33775"/>
            <a:ext cx="1095375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Catalog Service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8E5934-F415-4B5C-AF39-C2AF6989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14750"/>
            <a:ext cx="1333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DCB31D-3960-42EC-A7A3-9114FE76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24275"/>
            <a:ext cx="1095375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Operations Service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F2A322-D9C9-4F5B-A92D-23896A88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905250"/>
            <a:ext cx="1333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FCA61D-E54D-4A78-9C0F-833728F1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14775"/>
            <a:ext cx="1095375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Loyalty Service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404A4A-5745-4DB5-8EFC-8BDE3CE2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95750"/>
            <a:ext cx="1333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7B39E2-F71C-4457-84F5-26EA8067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05275"/>
            <a:ext cx="1095375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Reports Service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996228-39B7-423B-8725-90C69246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95500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1CBB78-30B3-4EF3-ABD9-A989809D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86000"/>
            <a:ext cx="952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PostgreSQL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A46F70-1B30-49B1-B7A3-2985CA34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05125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E9308F-D734-4467-956A-73722D4F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19425"/>
            <a:ext cx="10001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WebSocket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Topics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FB44D0-FA40-4543-AD74-300E5ED7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1A380B-4ACE-4829-92BA-2C12C41E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29050"/>
            <a:ext cx="10001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Email / S3 /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VNPay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C2EE8C-8809-41D6-AA7B-27846229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9676">
            <a:off x="2238375" y="1781175"/>
            <a:ext cx="158312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19191C-4484-4659-BC75-000275CC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657600" y="2305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F4AF0D-BB8C-4230-ACDD-DC24C692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63461">
            <a:off x="2238375" y="2686050"/>
            <a:ext cx="151354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7E4B02-2225-4C74-B256-9AFF223E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657600" y="2305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C2F41C-3CD9-4EA6-8334-2CD2D2BC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99213">
            <a:off x="2238375" y="3590925"/>
            <a:ext cx="192690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3FBCBC-8D85-4CA5-9785-5355725D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657600" y="2305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A7DA27-8C63-4C4B-A3EE-AEE71324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2352675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5C83F4-D398-480C-A745-32E2EB46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467350" y="2305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4EC8B6-8BBD-46CC-BAA9-38E0365B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23526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DC60661-3D2D-489C-B0C1-BD2D7F9D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610475" y="2305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EA5CC5-5D91-4C2E-BF09-6949A2D1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41241">
            <a:off x="6905625" y="3419475"/>
            <a:ext cx="7983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522810-DBA3-4AEC-A2A7-F57FF76E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610475" y="3133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E4A165-E700-4EA6-8B38-82BE7FE1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7501">
            <a:off x="6905625" y="4086225"/>
            <a:ext cx="76793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C5C322-C5F6-4B15-9441-2FE776E1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610475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49B9C1F-5B51-44BE-AEE3-9EEA10DF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86300"/>
            <a:ext cx="857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0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Legend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7AF7E6-FCBF-485C-9DA0-1EB46CA7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49625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90FEFE-061F-4339-AA04-06740EE6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86325"/>
            <a:ext cx="7620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50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REST traffic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9E6577C-684E-48BC-98D6-339A51A7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5186363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627194D-2DAB-41EA-8DC7-89F8FD98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14925"/>
            <a:ext cx="9048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50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Real-time events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B1DFDB-0575-4314-8783-48351E81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5040884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78A738-EB99-4E43-A0C5-268D7575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10D19-7570-4981-A3A8-0AD902CE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85607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3. Proposed Solutions | Check-in &amp; Wash Operation Mechanism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168F0-86F1-4089-971E-48F607A1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C8B6F-31E3-48F6-A0B3-C17E7D8A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19750" y="160972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E6ACA-037E-489C-A8FE-23600C00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58E7A-C0B5-46EA-A5A7-D6A28D76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74317"/>
            <a:ext cx="704850" cy="38766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CE8B6-D31B-43B7-B482-C0A21E58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81250"/>
            <a:ext cx="1047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Booking QR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Plate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C2E60-C75B-4FD9-8A86-80875EA7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432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E951F-4679-4B19-82CC-12215BA0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98317"/>
            <a:ext cx="704850" cy="38766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8AB88-FD40-4D24-85B1-5A33479C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1047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Console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29873-6299-46EA-B7AE-1C5E73FE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D48A2-D0DA-4544-BFC0-10EAD142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36317"/>
            <a:ext cx="704850" cy="38766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2FE6F-E0BE-46DD-B762-29C7F500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43250"/>
            <a:ext cx="1047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Backend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67CE4-29EE-4F2B-90D7-3FC490A0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38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ADDD81-8166-4BDA-8848-0B3E2C8C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93692"/>
            <a:ext cx="704850" cy="38766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WA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1A170-61BF-4710-A4FB-104B4E91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00625"/>
            <a:ext cx="1047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Wash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4EFCD-887B-4499-BEE1-12FC7AD6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66925" y="2324100"/>
            <a:ext cx="80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56C53-E61F-44E9-8882-BE7300D4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009775" y="3086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55A114-FB35-4428-8CA4-13CC0142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06392">
            <a:off x="2419350" y="3467100"/>
            <a:ext cx="120993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083B6-23A0-4875-83CB-74C21EEF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371850" y="2752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6D9F9D-3C38-41B6-847E-ED83C75E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781425" y="3114675"/>
            <a:ext cx="1114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993D46-AF4E-4582-9F74-68A5E688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724275" y="4181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BF2378-784E-4C81-B4D9-570DEB9B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215464">
            <a:off x="3781425" y="4229100"/>
            <a:ext cx="156331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A5BA01-98DE-4BD0-9573-59DC4274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3241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15E795-9A82-4BB7-95D1-740D03B1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2011CB-A2F4-42B4-B71B-9570E4E3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1838"/>
            <a:ext cx="342900" cy="18859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24AA27-2994-45C2-B207-1B473550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QR / Plate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999A03-7C57-4359-B4DE-40E9B87A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3714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Customer arrives with booking QR code or registered vehicle plate.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CB2F7F-510E-40FC-A7AE-3CE48172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A70512-5542-4A31-A49A-7ED18409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2388"/>
            <a:ext cx="342900" cy="18859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33D909-13BC-4804-8DE2-7366A78F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Check-in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D3ADA7-BE47-458E-ACEA-D13EFCED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3714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Staff searches eligible booking, validates customer and creates wash session.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2DCF1C-420F-4B96-B804-CB1BECE6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1C4D13-0BB5-4479-9FD3-032AA335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2938"/>
            <a:ext cx="342900" cy="18859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DE0A89-021F-46FD-8636-AC3F7233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Backend Validation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6FD99B-D5D7-406F-844D-DD3B0C72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3714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Server checks booking status, vehicle, slot, payment and assigned staff.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8C71EF-9449-4CB7-B8CC-F27D9743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163514-ADFE-4E74-91BD-492293C1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3488"/>
            <a:ext cx="342900" cy="18859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0589A5-0CF6-4FF6-AA86-752B3D25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Operation Updates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A09620-56FE-4DCD-9513-E405941C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3714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Wash session status changes from CHECKED_IN to IN_PROGRESS to COMPLETED.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C3FCB4-BA06-4E05-9713-B9C0C321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38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2D07D9-A354-42BD-ADD0-410A9DCD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038"/>
            <a:ext cx="342900" cy="18859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B9FBDE-AF78-4526-8497-50C67774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Real-time Sync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11B946-9737-4C95-A644-46B6AA67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3714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WebSocket events update admin, manager and staff dashboards.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1B1243-E3B7-47AD-AA42-B6D2E8D5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15A2B0-47BB-424C-BF8D-E3BEADA0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4588"/>
            <a:ext cx="342900" cy="18859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2D9B57-E075-4B59-8512-44A3EC54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Follow-up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8D2275-BB5D-439C-A73C-6CB94380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81550"/>
            <a:ext cx="3714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Customer views history, receives points, and rates the service after completion.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F43D9C-F756-4134-9996-50DB820B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956479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AFC9EC-1536-46A8-9065-44A32A4C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3066A-C588-46AC-A678-2CB45D0C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5. Main Actors &amp;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8A3B7-1093-432F-BD8F-81EEAFED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FAED3-7A1E-497D-84FA-56141344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1F109-3381-424F-AC20-CD65ED07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178117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F93F7-5B4B-45FC-8907-1AA0008F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40862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87D13-B47B-4CA8-9B2E-45061742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D758B-6444-422B-928A-ADDF8ED3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21536"/>
            <a:ext cx="876300" cy="48196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34329-C4D8-4C26-BE0A-633EE264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8FA45-F883-4756-9359-32E532D3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1878"/>
            <a:ext cx="523875" cy="288131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0E5D9-17FC-4EB6-BE39-9E31DC48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4381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As a guest, I can...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179A2-A984-494C-AB3E-2EEFB9FE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View public homepage, guides, service catalog, and promotions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F0527-21E5-414F-AF4E-6E5BFA99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Register a customer account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3A44B-8038-4C74-8D43-C4CEEBF5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Browse wash packages, combo sessions, and individual 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9AB8D-BF99-47B2-A8B5-2A061EA8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Start a booking flow after authentication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24068-8088-457F-BF53-5BBF2580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Read car-care content and customer-facing announcements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7173E-1E0A-4A0B-ABB7-0F5C114B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Switch language between English and Vietnamese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8C77E-9A29-47BA-8F71-12B0ECEB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5736548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CF12E5-2B64-4E42-8339-35AD5A2E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E1C5F-EF4D-419E-9F18-BB25049C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5. Main Actors &amp;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D8088-B2F5-424A-92A0-058EC4EB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C76DA-5C28-4226-9D55-B503C2DB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A5FAF-5CE5-453B-97DD-1C5705A5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178117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EA07C-5431-4BBE-B07F-947B9FEB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40862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6CBFC-343B-420F-BF28-BEC83C68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85489-AAB0-4C45-9999-62F97112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21536"/>
            <a:ext cx="876300" cy="48196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5AC95-872C-474C-B604-F17960B0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2981A-301A-4700-AEBF-165FC3FC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1878"/>
            <a:ext cx="523875" cy="288131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AF3AE-1DB7-4308-A7DF-F4BB6FB0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4381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As a registered customer, I can...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E0904-A715-4144-87DF-FD9FAF49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Log in and manage my profile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3F7E4-3062-4D68-9A7E-52B86135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Add, update, set primary, and remove vehicles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82791-B454-4F3E-8045-3E8877A9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Book wash services by package, combo, or custom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AF7BF-5BCA-4718-9883-7D3FA6E6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Track booking status and wash progress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1742A-2272-4DFF-B428-369AB62F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View notifications, booking history, and service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EEA43-6123-4F49-AC08-803DCF2F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Use vouchers, loyalty points, and tier benefits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EEE873-E8C6-40C6-B4D9-F29226D5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8873093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AE048-07A9-4813-A13A-D9E5B824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DDFB4-4435-459F-A21B-0C12358D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5. Main Actors &amp;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885B8-BC54-4848-A403-73976065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01C1F-BBD2-44D5-8C13-6B9BA194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B938E-297C-4837-AA37-6531FA81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178117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EB33E-2132-4F00-BD9B-E8412129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40862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64C28-0C72-4FA3-A594-D458DD6E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FD1AE-CDF9-4AE6-9433-0F9B7E3D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21536"/>
            <a:ext cx="876300" cy="48196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DD8A8-8FE3-49ED-BA2D-391074A5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7A25E-9B58-4E66-8451-BB7C2F3F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1878"/>
            <a:ext cx="523875" cy="288131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3D47F-E693-48A7-8C65-04D55468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4381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As a registered customer, I can...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1EC9E-518D-49C6-8540-2552EF3D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View all vehicles and booking details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6C640-E00A-4A4E-94D0-B65EA7F1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Cancel or follow up eligible bookings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53EC8-3A2E-42A6-8351-DD8C5178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Rate completed bookings and service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CFEE7-E60B-42FC-88BC-58736E41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Review earned points and membership tier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47577-9AD4-47AD-AEF0-F9D32C65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Redeem tier voucher offers when eligible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121172-EF1D-4F0F-AC7F-F92ABC7E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Receive reminders and support information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7695F-A85F-4BAB-A797-DE0924C8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192820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A42AC-2C44-4D53-B0D3-D517843E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0F580-02EE-4389-8745-4E9CBE9D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5. Main Actors &amp;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0C0E3-B39A-4273-9A45-0CB337A8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95A59-9FB8-4845-9FA7-5F43F804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99E24-4D1C-4E7D-A313-0F4C328F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178117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B968D-3528-4C8C-978B-F8E1EEF7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40862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3A5A3-D397-46C7-A78F-6B2886D4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C85A0-7F0C-43B2-8297-0A6328CE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21536"/>
            <a:ext cx="876300" cy="48196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EF6F3-A77F-48A4-A462-2D12722E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C399B-4806-4503-A78D-F17035BE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1878"/>
            <a:ext cx="523875" cy="288131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78443-8682-47DB-A30F-934D8886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4381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As a staff member, I can...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DC06B-76D4-478E-81AA-96505214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Log in to the staff workspace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33FF9-A223-4A0D-BDBD-0CFAE9EB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Search eligible bookings for check-in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CFC82-0492-4CF2-AAB4-EA987D42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Create and update wash sessions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293C7-E829-4385-97BC-E69EAB35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Follow assigned work and service queue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90468-4317-4BE9-9AB4-36E5AB1D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Update progress from check-in to completion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6017C-E12A-41CE-AC03-4DD4A1DA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View daily performance and assigned tasks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DBC610-737F-41D1-90F1-C7E9ADCF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131233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E1BCE1-79E1-4771-A1EF-75F4941F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6EFFD-ADFB-492A-9784-84A7E54F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5. Main Actors &amp;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AB4A1-0CDD-4B2D-9353-0EE9EB11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2FC7A-58EB-4984-82DF-8D60764B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6E992-61D8-486C-B874-F881DF78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178117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96392-9107-49C1-ABA9-6E9FF3A5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40862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E5E55-3C90-4743-9CB4-B76B3539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4D6E3-266B-45D9-8112-171E3995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21536"/>
            <a:ext cx="876300" cy="48196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MGR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00C88-88B0-446B-80B5-BC14C4EB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A1730-E580-4430-82EC-23515C95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1878"/>
            <a:ext cx="523875" cy="288131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CCAEB-0D92-4D79-A014-53CCC613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4381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As a manager, I can...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18E51-6EB5-4D7C-AE40-BBA8D717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Monitor operation dashboard and attention popups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0ED8A-2C17-4093-9D8B-97C8B316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Assign staff to wash sessions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2CB99-099D-4C27-9990-8ECB9BF0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Track staff workload and availability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13D57-11D5-45F6-A783-01D9DE82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Review bookings, sessions, revenue, and service 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BC9E9-F29C-477B-9FCD-66A794DD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Handle delayed, unassigned, or unfinished sessions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606B3-4D41-4910-8E7E-3EC24266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Use reports to balance workload and improve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DD8A7-2956-4C0B-9183-8F5EE9B3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180125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A1869-0D55-463B-B95F-069AB4A8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5F94F-F268-4616-AA66-0E007D45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5. Main Actors &amp;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77A93-90B9-4D8F-9C44-65DB0D2D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E175C-C8D7-4F91-A0DE-42E915BA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4FEEA-759E-4D6B-8337-C95CE798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178117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0A11D-2180-409B-9962-B8E94939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40862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8EB5E-B744-4B7C-9D55-6DB6B6B2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0B636-7BD1-4911-B13C-B455A802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21536"/>
            <a:ext cx="876300" cy="48196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ADM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15EB2-258C-4B04-87BE-F1C9BE2F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070BD-5E53-4856-ACE5-16C6F5AC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1878"/>
            <a:ext cx="523875" cy="288131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743F7-93E1-45B8-A841-CEB1F977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4381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As an administrator, I can...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646A2-9F6A-479C-815D-030ACD51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Manage users, staff accounts, and customer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EA9F1-1BE9-4C4C-B3E6-F3E2278F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Manage services, packages, combos, add-ons, and promotions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1B185-B1D2-49EF-9E91-95F9EA52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Configure loyalty tiers, points, and voucher offers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E6CA05-E04F-4C6A-BACA-3F11AB42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Review bookings, payments, reports, and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98BDE-766F-44E4-9F22-EC527805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Monitor dashboard KPIs and staff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97073-E3DC-4412-ABF7-26E60461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Manage content, settings, notifications, and system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6350A-0DD0-449F-8B5B-5C19090C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952616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6B2FA1-FF85-45DE-B094-7013E7F9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B7BB5-ECD2-42F8-B385-2BF91050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6. Flows | Scenario 1: Booking &amp; Service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4D59E-D330-4DB2-A5FF-633EE0A5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A72A8-5B87-41EB-80D1-FDD35EA0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0"/>
            <a:ext cx="2333625" cy="2333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C59D3-CCB8-46DB-BBF1-2282C584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240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9B4EA-0B83-49B2-AC4D-E28DD688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38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DD20D-86B5-4ACD-9C50-D2911D71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22120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9D65A-C001-406B-B0DF-50781D7B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57400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Browse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E79CD-003F-4BF6-AEF6-2BA7BA46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5240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65374-1D30-42B2-8F9F-AD2F8922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38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877C7-2C97-456F-B0D8-AE561C2E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22120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778BD-B2EA-4564-93CE-3A4769CE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57400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Select package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combo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22F35-1BB1-4AE3-B2AA-253DA817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240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68B0F-D9EB-4DBA-AA68-5F2337AF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8F44A-9BFE-4607-9265-2F0D77CB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22120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26FDE-32A8-4631-A513-BB4ECA94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Choose vehicle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time slot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C20B84-7D53-46AD-AE50-E6D0E3DD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240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1F8ED-E89A-4152-94AA-E251A663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38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5BCC56-0FE5-4E27-912F-90C3507F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22120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0107B9-28FC-48DD-BB6B-776E9A61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57400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Apply voucher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7166EA-7239-4CD5-9A54-9D89CB4C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813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06DB8-B473-43D2-A57C-D754818A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95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4FEFA7-376F-449D-8E06-C7E3038B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9495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3E0121-EF7D-4EE0-9A94-DA313906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147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Create booking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confirm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3DE81-8D29-463B-A96E-775F3701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3813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034697-1FF7-483D-BADE-E9BD604B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7DA786-8BB3-46F0-943F-70850F33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9495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E9B828-B807-4D15-AA31-0C2206D3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147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check-in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at arrival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5ABCC6-5EBF-42AD-987B-001C9766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813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DF1EAB-3AFC-4043-A3ED-16903C11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95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6A149F-6A17-44F4-8713-BC7D1238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9495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0B1234-F1B0-47F9-A5D1-95CD1A22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9147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Wash progress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is updated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7BBA4C-5E5E-415C-9FEF-1298BBB3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813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0AE756-1B5A-4F9D-8C4B-157001B0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95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D2ED70-D2EB-4A86-8DFF-D603A96A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79495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FF9185-3800-4C1E-875A-8E4C8AAF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147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Complete service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payment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B8BC1F-23E8-49E4-8C61-FDDD4C32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0958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19F7B5-49D2-49FF-9904-8705B0E3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101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2583BE-ED10-4288-BA05-6E85AB84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93995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8FAD8C-2773-4F75-8112-7D57B350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6292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Rate service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earn points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0A003E-7B6C-44D0-848E-8043BC63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19907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10DE9E-9FBF-4C7A-A170-00F173EE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609975" y="1943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836BBD-C014-48E4-A112-D824EE9E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5875" y="19907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D7147B-DEA1-499C-A949-4B5DA5D2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705475" y="1943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741979-C2AC-482C-8A1A-7127968E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19907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E25477-66A4-4DB6-9B2B-C8AE89F5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800975" y="1943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906097-FF06-4212-8FF4-E552D0DF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72500" y="2466975"/>
            <a:ext cx="90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35D68B-4626-4631-A2EE-997004E6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515350" y="3324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2AA8F3-4EAF-48E3-A9A9-BB476861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858125" y="38481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DD6E64-C3E4-4339-9EB1-ACB0A4C9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134225" y="3800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970BD38-AEEF-4FAB-85C1-C062783B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762625" y="38481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ED548E-5BF3-46F8-ABFA-87FB7B91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038725" y="3800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1B6394-1A07-4386-9899-9CC14D2A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67125" y="38481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5AF49B-A2BB-4182-A50D-A0BEE098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943225" y="3800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BE3927-06E4-4AD5-B29F-77EE09F8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6835">
            <a:off x="2286000" y="4324350"/>
            <a:ext cx="270499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0FE3DC-1125-48EE-BAE0-91674249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657725" y="5467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86C928-1094-4A31-B884-DE283E5E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096000"/>
            <a:ext cx="7239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8970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350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Real-time status is synchronized across Customer, Staff, Manager, and Admin workspaces.</a:t>
            </a:r>
          </a:p>
        </p:txBody>
      </p:sp>
    </p:spTree>
    <p:extLst>
      <p:ext uri="{BB962C8B-B14F-4D97-AF65-F5344CB8AC3E}">
        <p14:creationId xmlns:p14="http://schemas.microsoft.com/office/powerpoint/2010/main" val="3971143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03CC9D-4577-4679-81E8-849C2A77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27065-4C4B-4A94-9647-CDE8DC7B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84604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6. Flows | Scenario 2: Customer Feedback &amp; Service 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32898-06EB-4F78-AA7B-9353A173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A1464-1AED-45F9-8ABA-ACBDD5ED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00750"/>
            <a:ext cx="2000250" cy="552450"/>
          </a:xfrm>
          <a:prstGeom xmlns:a="http://schemas.openxmlformats.org/drawingml/2006/main" prst="rect">
            <a:avLst/>
          </a:prstGeom>
          <a:ln xmlns:a="http://schemas.openxmlformats.org/drawingml/2006/main" w="28575">
            <a:solidFill>
              <a:srgbClr val="FF5A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7BA16-D887-4E1C-9D86-A2CB541D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76300"/>
            <a:ext cx="1190625" cy="1190625"/>
          </a:xfrm>
          <a:prstGeom xmlns:a="http://schemas.openxmlformats.org/drawingml/2006/main" prst="ellipse">
            <a:avLst/>
          </a:prstGeom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2870C-B564-4A72-A8E2-653E0408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287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921C7-4876-4877-9A5C-AA75B7A6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43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99A66-4FB7-4379-B2A1-C82B6398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22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C1951-ABE0-4656-BAAE-CCC0E319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431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98095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opens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completed booking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3666E-C138-41A5-B3FF-070EE88E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287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83F63-9ED8-44AF-805F-312CA386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43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2B409-E412-4DC6-BB9C-798097F9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22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AD0F2-0B07-4473-8FA2-BF2A026B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431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Review service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staff details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105CC-C511-410C-B66B-78429477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4287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25871-EDE4-489F-9B89-ABDFEF1E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43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FA2B2-F215-467B-B637-9E58D898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22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22445-127A-4C1E-8496-1A14D3AE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431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Submit rating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07E3C4-A905-40F6-B5FA-C7A9463D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CF43E8-8DC3-42AA-9BEB-0CCD0D36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43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1250A7-0FB4-4050-9898-33D985D8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22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EDDB7-25D7-4E65-8676-74D06AE4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43100"/>
            <a:ext cx="14478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Backend links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feedback to booking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67FCD2-AA16-446F-A466-AAB1C8B8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6575" y="18573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BB751D-B346-4AC7-BED9-326E7727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657600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9CBD58-CDF1-4306-A647-22113C48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4450" y="18573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E66FE-AD3C-47BB-9D07-C5A70CE3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705475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F5C706-B13D-4BAF-B4C5-89D37C75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2325" y="18573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56C625-A581-45B4-A683-B2E1FF3A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753350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CE3AC0-8920-4866-AB89-47433575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1475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DAE739-0AE4-49FA-B18D-E0696539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B691AB-7C65-48EE-AEAA-668A86F5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FFE983-112C-4A69-8BC3-BC3C7E21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229100"/>
            <a:ext cx="1428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Admin reviews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feedback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374B02-0EA9-46D4-BAA9-1088D053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1475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AE3AEB-62D3-4C25-A5EC-AD8F3668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63D302-C700-423B-BF62-AC986ADD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1664FB-CD0B-4162-B45D-EB22BE65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29100"/>
            <a:ext cx="1428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Manager sees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service quality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1404CE-61FD-474E-B336-F187B276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D73C05-7252-4F16-AE41-C4CB61DC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0B4065-EA9F-4DBB-996E-0D19142C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031BD1-150D-4D7A-B87F-EB2E084B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229100"/>
            <a:ext cx="1428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earns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loyalty points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6D4C51-0F76-431F-936F-3786435B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0505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EE22AB-D05A-48E0-92F6-7A52B2C8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33725"/>
            <a:ext cx="516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3BA9EF-A673-4702-AFF3-11C84324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43250"/>
            <a:ext cx="1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DDCB89-AE61-4446-8F75-7924120B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409950" y="3657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4DCD0F-F92A-4983-80D9-C03EE9E5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4143375"/>
            <a:ext cx="733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592AFD-D115-422C-A70B-A774CAAA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943475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2FB70C-557F-4519-8B03-478A4F37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0825" y="4143375"/>
            <a:ext cx="733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2B9340-81F0-4989-973D-DFA6D2E5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277100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73A3CF-91BA-4776-908F-DB6DA044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34000"/>
            <a:ext cx="7048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650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Output: ratings become operational data, not just comments.</a:t>
            </a:r>
          </a:p>
        </p:txBody>
      </p:sp>
    </p:spTree>
    <p:extLst>
      <p:ext uri="{BB962C8B-B14F-4D97-AF65-F5344CB8AC3E}">
        <p14:creationId xmlns:p14="http://schemas.microsoft.com/office/powerpoint/2010/main" val="16283314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673A8E-F05D-442A-B5C9-3881AE67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14C77-1393-43C8-8E6B-7EDFB2B4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6. Flows | Scenario 3: Booking Quality Validation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CB2A8-FBC3-4530-B00D-00473DAA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085C7-5B20-4779-9626-C13AFDE4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4340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B094F-BB27-441C-8F69-3C40E275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1708A-93D7-437E-9B12-7BDA374A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38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A1E30-F906-47A9-92FA-7C27FD1C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179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CB252-0206-4053-A29F-6A8817DE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03835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arrives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at wash center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30CCB-6BFF-4161-B9A2-24780F62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240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75D67-8690-4ED2-8818-DD7F06A1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38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13CB2-51C9-47FA-B081-4F48C7B1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79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C3729-CD90-4C69-A0F0-8D10C06E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03835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searches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booking or plate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9012E-6C8D-4D40-A2AB-17C8E238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A0B5E-2F8A-4154-AD60-921D71E6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38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55150-7E69-48FA-924B-F9EC4D3C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79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FFF08-CFC7-4DC3-9C00-0DBEA799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3835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System validates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booking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6CD31-75D6-49FC-B1EC-B804FF04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D61803-BCE0-4FD9-8E57-6E3C0EE8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38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401CEB-50A7-4487-9132-16D7E738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179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8E8625-B1DE-48F3-98E9-4A410839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3835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Wash session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is created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844721-B50A-450E-BBB3-5951B54E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195262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9992CF-ECEF-4D96-BC1F-537DF76B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943350" y="190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417FFD-5F2D-4599-B454-EC3C8353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195262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F999D9-E758-4659-8A12-856D8497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134100" y="190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4FBAB5-264B-4ED3-BA4D-42CA6797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195262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479417-042A-4E46-B41E-24134A22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324850" y="190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381DE3-4EEA-465F-B4A7-A39F2059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005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95293E-0DE2-4460-97E1-5E99DD97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14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5D220B-3E37-488E-A43F-0B4ED7DC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94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336258-A9BE-4622-B4B9-D26F2715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14850"/>
            <a:ext cx="14478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Progress checked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5E4BE6-4F0C-44DA-8033-EC4D3F51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00500"/>
            <a:ext cx="167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1CA421-6860-4200-B7E2-3B2986B3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14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4D4AE8-DDA4-4347-BEB9-81E4C465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94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3B161B-755D-40B8-A92F-3A6F41F1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14850"/>
            <a:ext cx="15049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Completion unlocks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rating request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44A4AD-8B90-4E95-804A-070DE280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69ABDA-496C-43DB-983A-1FF0F197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14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96FEC1-2F22-4FA5-9591-216055B1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94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4C0E2D-7687-46A2-8B86-6F67F4B2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14850"/>
            <a:ext cx="15430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Reports update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performance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BBD669-2256-4BBE-81A6-8744FD93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0030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3A48EF-FBA8-47B2-97B2-26476303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14725"/>
            <a:ext cx="557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FA8903-F38F-4DAD-9A50-5D71287E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2425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90ADAE-6095-427F-8607-44023784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467100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F50EDE-3A3F-4900-86F0-2B62EE5A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44291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27171C-E0CA-47E2-B28C-EE8E7C50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229225" y="4381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0E4208-E5E1-40D2-B82E-A55E1DEC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4429125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B7EF10-2FA7-4A3B-BEE9-A72082E4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896225" y="4381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C39430-5923-41FD-A490-3897CA8D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19750"/>
            <a:ext cx="7905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350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Validation uses existing booking, vehicle, session and staff assignment data.</a:t>
            </a:r>
          </a:p>
        </p:txBody>
      </p:sp>
    </p:spTree>
    <p:extLst>
      <p:ext uri="{BB962C8B-B14F-4D97-AF65-F5344CB8AC3E}">
        <p14:creationId xmlns:p14="http://schemas.microsoft.com/office/powerpoint/2010/main" val="6881591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1C66FA-4DDE-499D-B3E2-61A2566E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7C59E-ADC4-4F52-A4E6-1F0D7A97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6. Flows | Scenario 4: Reservation &amp; Payment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4A56C-5774-41A3-BF92-782DD513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03BE3-36A3-4C47-9731-E3D8B173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33450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11C62-0B79-4514-B38A-7ECCD78B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71625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F5A8F-D3A7-4907-9D63-9DD2F076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685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5C5E7-F3CE-414D-8E43-1ECB5AC2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765554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D64F1-B4F3-42F5-B184-BA327395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0859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Choose service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91EB4-4E58-4D75-8C80-FDAE139E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71625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85AA5-6615-4353-9FDA-074D1CB6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85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F9671-8AA0-416A-9E67-82476A8D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5554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06BE8-A6B0-4050-B38C-3553121D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859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Pick date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time slot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5C9AF-10FC-4C67-8607-C7FECABB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71625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D0BA8-CF57-4AAD-880F-3875D2FE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85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F87A7-D57E-4E83-AE4D-E213A216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65554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98453-0D56-4F68-963C-325E3FD1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859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Select vehicle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add new 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33409-6549-4DD9-AFC2-9DBAE2EE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71625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B38F7A-16BC-449E-B55C-01BAA089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85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E30A0-BFBF-48F4-9B88-3080E2C2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5554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E56D0-5FC0-408E-8AEB-AF54E75A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859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Apply voucher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tier 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DF499-C649-44BD-82CC-95F8C633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2000250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17ECCB-ED80-4BC5-888E-E712E1F3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514725" y="1952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5E3652-8BD1-4759-A056-55E37258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1575" y="2000250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E5029-C009-42DA-8AB1-29A97CEB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562600" y="1952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132690-FE4D-42C7-B5C9-778D808D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2000250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D2F2FC-BDFD-41EF-BFDD-88628154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610475" y="1952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32C4DD-142A-490C-A311-430D2EA3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242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35BEDF-2201-4B1D-8641-04B9D6ED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A70F95-DC26-4683-AF3E-41156969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81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9565E8-7819-45F9-974C-653AC719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386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System checks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slot capacity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AD03F0-9D50-434A-9F2C-9B1ACD87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7FFC07-52DC-45F6-9407-D1C6D609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38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2B76CB-989C-48AD-8113-2AA632DB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181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5E599D-D4A3-46A1-9CDA-F7DEEC6F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0386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Create booking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invoice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275D33-7D4C-45A1-A1BD-CB797875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242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067EFA-2EAB-4F39-BB2C-D5576176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6C10C0-499E-49D4-883A-0B19C154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81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98CFF3-5CBA-4CF0-9DB6-3C441163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386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Pay with VNPay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cash flow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2E7C5D-E2D2-4D26-A463-72424FD5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D95C4E-F913-4A5E-8C96-964B7A92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38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EB524A-1637-406B-8045-527179D2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181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048502-EDD1-43A8-96E1-CC9A3731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0386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Confirm booking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notify user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821A03-096F-4F34-AC84-EFA2C674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372475" y="2438400"/>
            <a:ext cx="1076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BF0050-E67D-4759-9F5C-5134C364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315325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A44645-5E52-4047-B2C0-031475EE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667625" y="39528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E11F28-12B8-4471-BFAC-851A473C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972300" y="3905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6DA23F-9EDA-4EBA-A425-FE385642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619750" y="39528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1FF32E-F846-4D5F-826E-EE499A9D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924425" y="3905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545AF5-B190-46CA-9FC3-809296C3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571875" y="39528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4EBCE2-F088-4731-AEE6-3144B36F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876550" y="3905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137A95-5731-46F8-B230-71640025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72125"/>
            <a:ext cx="80962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350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Slot capacity rule: close a time slot when the configured vehicle limit is reached.</a:t>
            </a:r>
          </a:p>
        </p:txBody>
      </p:sp>
    </p:spTree>
    <p:extLst>
      <p:ext uri="{BB962C8B-B14F-4D97-AF65-F5344CB8AC3E}">
        <p14:creationId xmlns:p14="http://schemas.microsoft.com/office/powerpoint/2010/main" val="3875478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CF2C19-E2EC-4DC1-BCB9-74DDA9E2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52B8F-8CF4-42D3-B77F-2519365A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6. Flows | Scenario 5: Staff Check-in/out &amp; Live Sync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56C85-2689-4523-8348-9335B2AD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E846B-FA79-4EEF-9654-4E494192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971550"/>
            <a:ext cx="552450" cy="1809750"/>
          </a:xfrm>
          <a:prstGeom xmlns:a="http://schemas.openxmlformats.org/drawingml/2006/main" prst="rect">
            <a:avLst/>
          </a:prstGeom>
          <a:ln xmlns:a="http://schemas.openxmlformats.org/drawingml/2006/main" w="28575">
            <a:solidFill>
              <a:srgbClr val="FF5A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198A3-4167-44D4-A9D4-67F04B40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335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F5D4B-7A46-41B4-B91D-31373970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34E31-925D-4236-9C9E-1560410A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527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53CCF-6307-4029-AFCA-777CEE19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84785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arrives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with booking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81170-3365-4870-8DFB-874B6CE0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3335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B7463-D5DE-4E2A-940F-0F3F730D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90F2D-A5A7-4548-B2A9-F4E2128F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527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7623F6-1939-4498-851F-D12FF1C4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47850"/>
            <a:ext cx="14478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scans QR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searches plate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348A5-7FC0-42E7-8ADA-DF9D3647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3350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780CF9-F17C-4746-8630-CA0B711F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5B154-C8AD-4E22-8686-1EE9D91C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27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A98D4-BE6D-477E-8E84-A3FF205F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1524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Backend validates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booking &amp; vehicle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F65D2-AE16-4894-8C8B-94B44AFF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335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0A617-09C9-43D2-915A-A7EE3023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71277-5FB2-4C30-A6FC-0F8275FB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27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50DA5-1136-482D-8651-6DD0C6D2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847850"/>
            <a:ext cx="14478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Check-in creates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wash session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B4DBD4-5825-45DB-97B5-43582C4C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1762125"/>
            <a:ext cx="828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C7D49A-C46A-456F-BB6B-07F6A541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705225" y="1714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D03ACD-E60F-4BF6-922E-3071B99E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17621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2F1C86-FD12-4F04-83C6-BF0E6561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276975" y="1714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01B5FC-1A11-4770-8026-F0F01E16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1762125"/>
            <a:ext cx="733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D73585-C0DC-4A89-AC41-2B4C1FE8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705850" y="1714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99AEE8-33B4-4DFF-BC23-4ABA728B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91A82B-144D-48EF-9D34-7D755D8D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DE1348-3847-4757-A0F6-BA1F3168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4FAE91-6346-47E3-93BD-B3767354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229100"/>
            <a:ext cx="14478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updates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wash progress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FC0B40-BB70-4DBD-8695-36113644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758D1B-12D0-4105-AA94-F2B73400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30EDAB-0317-42BD-8E53-DECBA2ED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779C48-6158-457F-966E-C00D01FE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29100"/>
            <a:ext cx="1524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WebSocket pushes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status update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980011-97BA-46D6-8A17-8D3BA727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14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913AFD-59A0-496C-A740-3C8D64AE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F2E483-8665-49AC-8CA0-8573A3E0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4FF6C6-BE72-4422-80D1-EBEE14EC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29100"/>
            <a:ext cx="14478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Customer/admin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see live status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EECB7A-666A-4FEE-84D5-FCD655F1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A758DD-ED1E-4305-BC65-C98625A8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C22CC2-24EC-467D-A706-F3AEDF11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CF22F7-553D-43F4-A995-F410FB2A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2291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Checkout closes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session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DCEB84-1988-43E6-AD52-A165E192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72625" y="2200275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0A36DE-83EE-4B4C-A918-45E405C5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9515475" y="3657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A136C8-BD59-47A2-8680-CA88EBA2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763000" y="4143375"/>
            <a:ext cx="733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098778-85EA-4F43-B30C-1F8445A0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972425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F883AC-476D-44A9-AC08-446CFFC4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334125" y="41433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70F86F-B591-42B6-9D05-8AC9DDA5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324475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9AD0C4-3C17-4C49-9997-31DD2DBD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762375" y="4143375"/>
            <a:ext cx="828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2248C4-9D14-4772-B1DB-3924CD13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876550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C0F8CA-FF2E-489C-A831-CB7522D7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4995"/>
          </a:bodyPr>
          <a:lstStyle xmlns:a="http://schemas.openxmlformats.org/drawingml/2006/main"/>
          <a:p xmlns:a="http://schemas.openxmlformats.org/drawingml/2006/main">
            <a:pPr algn="ctr">
              <a:defRPr sz="1313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313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Works with the current system model: booking, vehicle, staff assignment, wash session and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6672525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7D12B2-BF36-4139-B8A7-94E72F55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81A0E-4815-4DAA-ABC3-ECA7BD5F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663E1-0D79-4F52-A73A-642D262A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33BBF-E26B-41C2-A156-B71D14C8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-1095375"/>
            <a:ext cx="1809750" cy="1809750"/>
          </a:xfrm>
          <a:prstGeom xmlns:a="http://schemas.openxmlformats.org/drawingml/2006/main" prst="ellipse">
            <a:avLst/>
          </a:prstGeom>
          <a:ln xmlns:a="http://schemas.openxmlformats.org/drawingml/2006/main" w="19050">
            <a:solidFill>
              <a:srgbClr val="80808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1C83B-53D5-42E8-8B3D-55809436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428625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8A8A8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3BFE5-3F6F-4AE0-A5C0-EE0BBCEE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14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solidFill>
              <a:srgbClr val="D4D4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E64AA-774E-44C2-A3D5-9015894F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482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4E588-02A1-439C-A623-C63E4DC7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03317"/>
            <a:ext cx="704850" cy="38766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!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C729D-FFAB-4363-A63D-C74F6AB3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DBB7F-13EF-44A4-8FB6-75744E6C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08067"/>
            <a:ext cx="704850" cy="38766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!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4365E-62C0-4D16-ABB0-503A0E15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14500"/>
            <a:ext cx="3238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80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Technical Limitations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779E5-1927-4990-8F14-62E5D9E2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14550"/>
            <a:ext cx="6286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Real-time experience depends on stable server and network connectivity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33E93-1F83-470A-B363-B114FA3F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38400"/>
            <a:ext cx="6286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WebSocket-based live updates are still evolving in the 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6275E-D27C-40B3-AF72-77976C89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6286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Slot closing requires consistent booking/session data from 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4E179-31A5-404F-81E6-7E4C6048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86100"/>
            <a:ext cx="6286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Payment confirmation depends on VNPay callback reliability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CFD1F-6F13-4C73-AD64-F3986AD9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14750"/>
            <a:ext cx="3429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80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Operational Limitations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4B4ED-AD18-4174-A4A4-79257A2A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14800"/>
            <a:ext cx="6572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Staff availability and workload balancing need accurate daily check-in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5C3783-5A4F-4071-BB6A-A8D64FB1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38650"/>
            <a:ext cx="6572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Service rating quality depends on customers completing post-service reviews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E304E-BB78-42B3-B88B-62684E49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6572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IoT/QR automation can be demonstrated as a future enhancement unless hardware is finalized</a:t>
            </a:r>
          </a:p>
        </p:txBody>
      </p:sp>
    </p:spTree>
    <p:extLst>
      <p:ext uri="{BB962C8B-B14F-4D97-AF65-F5344CB8AC3E}">
        <p14:creationId xmlns:p14="http://schemas.microsoft.com/office/powerpoint/2010/main" val="635602188"/>
      </p:ext>
    </p:extLst>
  </p:cSld>
</p:sld>
</file>

<file path=ppt/theme/theme1.xml><?xml version="1.0" encoding="utf-8"?>
<a:theme xmlns:a="http://schemas.openxmlformats.org/drawingml/2006/main" name="ChatGPT">
  <a:themeElements>
    <a:clrScheme name="Aura AutoWash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613B8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AutoWas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2026-07-27T03:20:52.6700000Z</dcterms:created>
  <dcterms:modified xsi:type="dcterms:W3CDTF">2026-07-27T03:20:52.6700000Z</dcterms:modified>
</coreProperties>
</file>