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8abd96903f48cd" /><Relationship Type="http://schemas.openxmlformats.org/officeDocument/2006/relationships/extended-properties" Target="/docProps/app.xml" Id="Ra2e09079b22f4efb" /><Relationship Type="http://schemas.openxmlformats.org/officeDocument/2006/relationships/officeDocument" Target="/ppt/presentation.xml" Id="Rff383543529c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e5585dc9e44c2a"/>
  </p:sldMasterIdLst>
  <p:notesMasterIdLst>
    <p:notesMasterId xmlns:r="http://schemas.openxmlformats.org/officeDocument/2006/relationships" r:id="R2811deb266284af7"/>
  </p:notesMasterIdLst>
  <p:sldIdLst>
    <p:sldId xmlns:r="http://schemas.openxmlformats.org/officeDocument/2006/relationships" id="256" r:id="R6c38fd739a59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4e543a53814585" /><Relationship Type="http://schemas.openxmlformats.org/officeDocument/2006/relationships/slideMaster" Target="/ppt/slideMasters/slideMaster1.xml" Id="R2ee5585dc9e44c2a" /><Relationship Type="http://schemas.openxmlformats.org/officeDocument/2006/relationships/notesMaster" Target="/ppt/notesMasters/notesMaster1.xml" Id="R2811deb266284af7" /><Relationship Type="http://schemas.openxmlformats.org/officeDocument/2006/relationships/presProps" Target="/ppt/presProps.xml" Id="R0ebb409c5cee4bce" /><Relationship Type="http://schemas.openxmlformats.org/officeDocument/2006/relationships/tableStyles" Target="/ppt/tableStyles.xml" Id="Raf3513ba3f9b4e4a" /><Relationship Type="http://schemas.openxmlformats.org/officeDocument/2006/relationships/slide" Target="/ppt/slides/slide1.xml" Id="R6c38fd739a59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052cfe25f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Car Ca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Car C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97beefb04e4d56" /><Relationship Type="http://schemas.openxmlformats.org/officeDocument/2006/relationships/notesMaster" Target="/ppt/notesMasters/notesMaster1.xml" Id="Raa96e5fe2cd3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aligned to GitHub origin/dev at b5ad575. The repository implements one Next.js web application and one modular Spring Boot backend, not a microservice or IoT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a67c021a1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3dfb968c043f1" /><Relationship Type="http://schemas.openxmlformats.org/officeDocument/2006/relationships/slideLayout" Target="/ppt/slideLayouts/slideLayout1.xml" Id="R071841aedabb4a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841aedabb4a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Car Ca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Car C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eee48286f49a0" /><Relationship Type="http://schemas.openxmlformats.org/officeDocument/2006/relationships/notesSlide" Target="/ppt/notesSlides/notesSlide1.xml" Id="R4fc3fee3f85f4b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DBD2EB4-24D0-4677-9601-EC15988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40E83-02F8-4259-9011-3B28B3E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428750"/>
            <a:ext cx="66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4DBD7-713E-479E-9A29-0E785F2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7810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3. Proposed Solutions |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C81B0-104A-4D2C-BFFF-21BDFCF2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28650"/>
            <a:ext cx="15240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207C-AD04-4D43-82C7-42AF94F1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57225"/>
            <a:ext cx="13716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GITHUB ORIGIN/DEV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544F1-0333-4503-A219-DEF604FB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6191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975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Role-based web application with a modular Spring Boot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B0E0A-6D65-4A86-BAF5-093ADCB3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2573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60504-8ED5-4792-B664-E938C09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9225"/>
            <a:ext cx="1104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98D77-8168-4082-A879-86D6BE8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90650"/>
            <a:ext cx="20955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8BFD3"/>
          </a:solidFill>
          <a:ln xmlns:a="http://schemas.openxmlformats.org/drawingml/2006/main" w="14288">
            <a:solidFill>
              <a:srgbClr val="08B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A0388-F19D-4377-A778-D2C50DF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19225"/>
            <a:ext cx="1943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56988-DDF7-4B8F-B268-2DCEA42B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90650"/>
            <a:ext cx="37147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8613B8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4C07D-22FF-43FD-B19E-99577773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19225"/>
            <a:ext cx="3562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APPLICATION MODULES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B4EE6-BAF3-480D-90DD-E7B590BC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90650"/>
            <a:ext cx="21907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0129B-7E80-44DF-B3A0-76B53713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19225"/>
            <a:ext cx="20383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DATA &amp;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8F6E8-4EE4-4BDE-AC6A-44A25685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9EFAB-5734-4555-860B-A072550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33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1E108-8C9E-423B-977C-56D1BE3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C9832-54C4-4638-A99C-86937F3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662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Guest /</a:t>
            </a:r>
          </a:p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292B2-F544-4AAA-9CCD-F8005C2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2CBD1-CF38-4A96-ACB7-E669913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1156A-2432-4402-A48D-4381531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2D693-9ABC-40FB-91D3-EAB2918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02D70F-97BC-40F9-B611-4FD3E75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1CD56-5EEA-42AB-A6F4-1849C4EE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73F15-ED9E-4E89-B5DA-6E963B0E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7FA83-6D58-43C6-9653-C873B152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2897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BCCEF-4029-4DFD-B059-4E6709ED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257300" cy="514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AD0EA-6DB6-4B21-AF32-239C110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2D7ED-1F06-4A54-9BE2-6CD8B0CE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342900" cy="2190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3582B-8F17-4C9E-81AE-D7DCB4A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6667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60DA8-4D73-4169-B697-EF61E62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20955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9FBFD"/>
          </a:solidFill>
          <a:ln xmlns:a="http://schemas.openxmlformats.org/drawingml/2006/main" w="14288">
            <a:solidFill>
              <a:srgbClr val="08BF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2EF69A-24BA-444E-918D-1E557B47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24050"/>
            <a:ext cx="17526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Next.js 14 Web Application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E3607B-3316-48C0-BC45-9187BB8C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4478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React 18 + TypeScript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2DF2F-3715-4060-B6CC-2EC30156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6F0E7-7F03-4984-BA4C-B9956F03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Customer Workspace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8B985-8F70-4EA4-8FC6-DF3E7BBE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D299BF-BF18-465A-A1E0-A5B5815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004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Workspace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9929B7-E28A-4D0C-A4A2-D20A151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ED8520-F9E1-4B35-8D87-4AA65781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Manager Workspace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6D9E2-6097-4CE9-9745-A1F27478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81450"/>
            <a:ext cx="1676400" cy="3238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E8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334FDD-DD4B-4D44-A344-1B76EE4F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38600"/>
            <a:ext cx="1447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Admin Workspace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6FA097-A6C8-492D-83F8-0C9AF9EF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38650"/>
            <a:ext cx="17526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React Query + Axios  |  Zustand</a:t>
            </a:r>
          </a:p>
          <a:p xmlns:a="http://schemas.openxmlformats.org/drawingml/2006/main">
            <a:pPr algn="ctr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STOMP + SockJS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9BED4-EF08-402F-855B-600BC702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3714750" cy="3638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DFB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C4E6F1-5545-4AE7-8FF4-7E6A12FC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050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Spring Boot 3 REST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54356D-B45C-424B-B564-EB1B2FAA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64770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8613B8"/>
          </a:solidFill>
          <a:ln xmlns:a="http://schemas.openxmlformats.org/drawingml/2006/main" w="14288">
            <a:solidFill>
              <a:srgbClr val="861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81FD25-74A4-456E-8A58-A04DE7B0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33575"/>
            <a:ext cx="4953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JAVA 21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45CBC9-11F8-4B4C-B3BC-5F4856E3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05000"/>
            <a:ext cx="438150" cy="266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4F887E-C0BF-4A9A-BACD-D4F8E09A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33575"/>
            <a:ext cx="285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82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JWT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446303-1EE5-4802-91C3-680A9F0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3238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Spring Security  |  Validation  |  Spring Data JPA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47BBA8-BA18-44C0-820A-6851559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7D731B-AD1D-4A3F-B248-9CB0665A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61FEC0-6B84-4E41-A22A-6F978A43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479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Authentication &amp; User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48FFA7-1C08-4FEE-9C1A-D5C8A6F4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670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accounts, roles, profile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9151A2-270F-4931-9B64-F78ADAF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717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793C1B-37FF-444C-AC86-61980DF6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71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A0C6B4-2FAD-4C39-9DAD-1763AC5B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Catalog &amp; Promotion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260096-2555-4166-971F-B8BBDA50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670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services, packages, combos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289B59-D9DC-436E-90FE-E58AAD9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8EA8A5-003C-4EBB-AAAD-EDD33027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EB235F-C0F7-4CE8-B151-F15FF568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147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Booking &amp; Slot Hold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5691B3-08ED-480E-B698-B2AD3B5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5337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availability and capacity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9CBBB4-2D6F-49C1-BD42-1E38388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385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0078B1-CE00-4453-B093-6AF0BC28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38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96D836-6FA1-40E9-B855-A3F06BAA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Vehicle Management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94FE6C-CB82-4F27-9F05-03845574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337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vehicles and primary plate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8678EC-3E5F-4781-BB57-D160B38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BA6D33-E65A-4750-A8DF-FCE20113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FED381-7D28-421B-9AC1-16A7C968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814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Wash Operations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8EFC62-8D5F-4DC4-B380-B80C965E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005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check-in and wash session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BC4216-231C-4FB7-BA9B-BA25376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0525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3031A2-7305-4751-90D9-88D12C3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05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0D7D57-1971-4431-8102-23EB985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Staff Assignment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2A8795-5688-420D-9463-867F0F6C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0052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availability and workload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88F1C1-D3BB-4077-B558-F1BEEC1F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5A7E54-F4A6-4E1A-B9B0-E129EF4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A3287D-8DE9-4C1D-816F-92AAC584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482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Payment &amp; Loyalty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9A6ADE-A2D7-4D2F-86E7-CF6181A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8672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voucher, points, tier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9FC009-60CF-4D5B-AF1D-1B57B2C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72000"/>
            <a:ext cx="1571625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6C5D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D82E79-1465-45A3-89CF-8F07493B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72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E26F3D-CD99-46B1-99A9-7F5B3B9D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48200"/>
            <a:ext cx="13620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938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Review &amp; Reporting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64113A-8B8F-43E3-BABB-F37D02A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67275"/>
            <a:ext cx="13620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ratings, KPI, analytics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6F0C08-AB7D-4A2D-BA1E-E887198C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28950"/>
            <a:ext cx="3429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F785372-8D12-4478-85A3-245D522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813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02BDCD-C82C-459A-BACD-C590239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813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3F76BE-79C6-489B-B8D1-AC8B60FB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81350"/>
            <a:ext cx="28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D0A1D3-24C2-4B4D-A992-C3E52142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3372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B703ECA-D1A5-4E4A-B9FA-6778701B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67025"/>
            <a:ext cx="72390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HTTP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A333CEE-C745-483A-9C98-A2D22CD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B5608B-3529-4784-8EF5-52C34FB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813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AF521A-FA41-4559-AD37-458CE6B8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813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B0761EC-150A-485A-8465-72FAFF19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813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3E668BC-0BAB-4831-A007-D809A33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3372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04D80F4-148F-43BB-A5BB-FAC16CA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67025"/>
            <a:ext cx="7048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REST / WS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9DE7E1-D286-4FEB-92D6-4FE3900E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19075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DEE6E6-822E-4FA1-B160-DD6351F1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458F90-2CBC-478A-831B-39DFA61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83F396-B2CE-49E2-B639-3975EB44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24050"/>
            <a:ext cx="12192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FDBC8B4-05F8-47A9-9ABC-095E231A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38375"/>
            <a:ext cx="12192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8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JPA + Flyway migrations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E29D86F-7324-4573-B557-66D87867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190750" cy="495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14288">
            <a:solidFill>
              <a:srgbClr val="FF5A1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BC3E46-28CA-4F26-A734-D727053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43225"/>
            <a:ext cx="914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SePay + VietQR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CDBC8DD-5FE7-4D05-8BC5-4DC0A9F6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1085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QR transfer request / payment webhook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904C50-278E-4DC7-B4C3-AA259D51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2190750" cy="495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14288">
            <a:solidFill>
              <a:srgbClr val="FF5A1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47974F-C999-4B8B-8271-434D034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52825"/>
            <a:ext cx="914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VNPay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87B1FEE-F87E-4814-8CDF-02BF1D9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52825"/>
            <a:ext cx="1085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checkout request / return and IPN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34C955-8581-469B-AABD-07883FC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190750" cy="495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548F272-EB1F-4875-B709-ABEB6E7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62425"/>
            <a:ext cx="914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Resend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E5CDBF4-59D8-4BC1-8B07-4A049C06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62425"/>
            <a:ext cx="1085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email request / API response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0F3199-F0F0-4345-8DF5-D37FD6A3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05350"/>
            <a:ext cx="2190750" cy="495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639DC5F-681F-4CD5-8594-29CEA4D1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72025"/>
            <a:ext cx="9144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1220"/>
                </a:solidFill>
                <a:latin typeface="Poppins"/>
                <a:ea typeface="Poppins"/>
                <a:cs typeface="Poppins"/>
              </a:defRPr>
            </a:pPr>
            <a:r>
              <a:rPr sz="863" b="1">
                <a:solidFill>
                  <a:srgbClr val="0B1220"/>
                </a:solidFill>
                <a:latin typeface="Poppins"/>
                <a:ea typeface="Poppins"/>
                <a:cs typeface="Poppins"/>
              </a:rPr>
              <a:t>AWS S3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EF22E3E-3C4F-48EE-9E89-B94F2B6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72025"/>
            <a:ext cx="10858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upload or read / object response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1913A67-4B96-4B84-BAE5-120350D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B52E622-298B-48CE-9BF1-7FA414FC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479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447F351-7120-4D7D-87B1-8E57A034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479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B81F09A-4F01-427F-9FC9-2F742D1A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4AE6C5-A4A7-41A2-856B-BD8F2EA3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027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5BB2E7-2386-4DF0-AA84-F3D76A25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33575"/>
            <a:ext cx="70485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Poppins"/>
                <a:ea typeface="Poppins"/>
                <a:cs typeface="Poppins"/>
              </a:defRPr>
            </a:pPr>
            <a:r>
              <a:rPr sz="638" b="1">
                <a:solidFill>
                  <a:srgbClr val="2563EB"/>
                </a:solidFill>
                <a:latin typeface="Poppins"/>
                <a:ea typeface="Poppins"/>
                <a:cs typeface="Poppins"/>
              </a:rPr>
              <a:t>JPA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74B0986-7B91-4B23-8EE5-CDBADF6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4BE5F1-6166-41CA-82E9-25830806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813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D8C59BD-1244-4BF7-A5AB-DC7A9C76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813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0A79DCD-A570-4FC9-82F8-6A08EE50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813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9526BEE-B3B4-4342-9A76-3A0643C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48F1D24-7DFF-43BF-80DD-B629AE7A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924020-9AF6-4D9A-B1E3-B5F1121F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909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0F84C0C-6AD1-46B2-9814-603B72A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909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A3C13E0-2B2D-4104-8830-A74C1B43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909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D9C4150-AE59-4B32-8D53-706F0932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4332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D34D2FC-8835-42DF-9C12-F6FF902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64CD187-B719-4F37-B9D4-138E8E49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005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8A84F6D-BAB8-49C2-8464-9A04E9BA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005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90AC0BF-5B8A-4E36-B0FF-CE2020E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005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9A210AA-194A-4657-8CEF-79B8FF7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5292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61BE128-1BE2-4AF7-AD26-737B61A5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C13F107-D343-435E-8A75-2DD20F00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780E214-7A6C-45CC-BD27-B5A15C0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0101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8343C43-E688-4053-81E4-E55502B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101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9CEC5A2-D72C-491D-B7B7-5FDA3385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BC6588A-926D-48B2-8D79-89B83CD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40130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AC018A0-66AC-4A60-8EBD-51A6B48E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24525"/>
            <a:ext cx="99822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1013" b="1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Catalog  →  Booking  →  SePay/VNPay Payment  →  Staff Check-in  →  Wash Session  →  Rating  →  Loyalty &amp; Reporting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A634C4D-6B77-4DE8-A2B8-D98A28D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00775"/>
            <a:ext cx="3238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7FEA6E5-96F8-43D8-B872-021F65B0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43625"/>
            <a:ext cx="138112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Request / command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F1B7970-05FE-4F8E-BFF9-E6A90F20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238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853C5BB-B76C-404D-B3A7-6E832BE7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2388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46BC8D9-2E32-4BA5-9990-98F36FB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23887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5C0F2F8-F690-4FEE-80C9-1F9B0ED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191250"/>
            <a:ext cx="1524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174"/>
          </a:solidFill>
          <a:ln xmlns:a="http://schemas.openxmlformats.org/drawingml/2006/main" w="0">
            <a:solidFill>
              <a:srgbClr val="526174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8C932AD-E8C1-47BA-BE09-E785609D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143625"/>
            <a:ext cx="2428875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713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Response / callback / realtime event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A1AA5C6-9E9D-47E9-A1F5-593AFD3C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43625"/>
            <a:ext cx="46291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174"/>
                </a:solidFill>
                <a:latin typeface="Poppins"/>
                <a:ea typeface="Poppins"/>
                <a:cs typeface="Poppins"/>
              </a:defRPr>
            </a:pPr>
            <a:r>
              <a:rPr sz="675" b="0">
                <a:solidFill>
                  <a:srgbClr val="526174"/>
                </a:solidFill>
                <a:latin typeface="Poppins"/>
                <a:ea typeface="Poppins"/>
                <a:cs typeface="Poppins"/>
              </a:rPr>
              <a:t>Every connection is bidirectional where the repository has a response, callback, or event.</a:t>
            </a:r>
          </a:p>
        </p:txBody>
      </p:sp>
    </p:spTree>
    <p:extLst>
      <p:ext uri="{BB962C8B-B14F-4D97-AF65-F5344CB8AC3E}">
        <p14:creationId xmlns:p14="http://schemas.microsoft.com/office/powerpoint/2010/main" val="258161152"/>
      </p:ext>
    </p:extLst>
  </p:cSld>
</p:sld>
</file>

<file path=ppt/theme/theme1.xml><?xml version="1.0" encoding="utf-8"?>
<a:theme xmlns:a="http://schemas.openxmlformats.org/drawingml/2006/main" name="ChatGPT">
  <a:themeElements>
    <a:clrScheme name="Aura Car Car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Car Ca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2026-07-27T04:33:28.3800000Z</dcterms:created>
  <dcterms:modified xsi:type="dcterms:W3CDTF">2026-07-27T04:33:28.3800000Z</dcterms:modified>
</coreProperties>
</file>